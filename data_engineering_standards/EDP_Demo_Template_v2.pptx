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thanks for joining. Today I'll walk you through the MVP we've built for the GCP Enterprise Data Platform. Quick framing before we start: not long ago this environment was at design stage — manual steps, Google-default encryption, nothing running end to end. What you'll see today is the opposite of that: a working pipeline where a single change flows all the way from a commit to curated, consumable data. It's deliberately a thin slice — four source views — because the goal was to prove the whole chain works together, not to build every feature yet. The whole thing is infrastructure-as-code, there's zero console access, and it runs across three governed data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I'll use the hour. I'll spend the first ten minutes or so on context — what's new, what you'll see live versus what's still in development, and a quick look at the architecture. Then the bulk of the session, around 37 minutes, is the live demo itself — I'll take one change and follow it the whole way through. I'll close with where we're headed next, and leave a good chunk of time for your questions. If we run short anywhere, I'll protect the demo block — that's the part worth seeing.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actually new here — six things, and they're all live. We've got a standardised Terraform foundation: one reusable baseline instead of bespoke setups per service. Encryption uses our own external keys, not Google's defaults, across BigQuery, GCS and Composer. Deployment is fully automated — a pull request goes all the way to production through CI/CD, with nobody touching a console. Ingestion runs in parallel with a fail-safe I'll show you shortly. Transformations run through a governed three-zone model with full lineage. And it's all observable — orchestrated, logged, monitored and alerted. The bar at the top matters: this MVP proves the spine end to end. It deliberately does not cover every source, production hardening, or the legacy decommission — those come later, and I'll be clear about that line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expectation-setting so nobody's surprised. Everything in the green bar is live, and I'll demo all of it today — the CI/CD deploy, parallel ingestion, the dbt transforms, Composer orchestration, and the observability. The amber items below are in active development and integration right now — control-plane DAGs, schema-drift detection, dbt versioning, data-quality alerting and freshness tracking. I'll talk about those and where they're going, but they're not part of today's live run. I wanted to draw that line clearly so you know exactly what you're looking at, and what's still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platform on one slide. Read it left to right along the top: data comes from our sources, gets ingested in parallel into the raw zone, dbt moves it through staging into curated, and curated serves our BI tools and apps. The teal is everything we built; the grey at the two ends is the world either side that we connect to. A few things worth pointing at. Ingestion pulls its Oracle credentials from Secret Manager at runtime — nothing's hard-coded. dbt currently runs through an Airflow BashOperator. The whole platform sits inside a VPC Service Controls perimeter, so nothing leaves the boundary. And down at the bottom, that CI/CD lane is what provisions and deploys everything you see above it, with observability running underneath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main event. I'm going to make one small change and we'll follow it the whole way through. It starts as a pull request that merges to main. CI/CD picks it up — pulls packages from JFrog, Terraform deploys it, no console anywhere. Composer then triggers the pipeline. We'll watch the sources ingest in parallel into raw, with credentials coming from Secret Manager, and then dbt transforms raw to staging to curated, capturing lineage as it goes. Finally we'll confirm the run in the logs, monitoring and alerting. The one thing I really want you to watch for is the fail-safe: I'll deliberately break one source, and you'll see the alert fire and dbt simply not run — so no partial or wrong data ever reaches the dashboards. In a regulated environment, that's the behaviour that matters most. (Presenter cue: trigger the fresh run live to show it works, then cut to the pre-baked completed run for the downstream steps so we're not waiting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this MVP, there are four bigger workstreams ahead. We'll build ingestion interfaces for the remaining source systems. We'll take on the SQL Server to BigQuery migration. We'll stand up the UAT landing zone. And we'll move dbt execution off the BashOperator onto the Cloud Run operator, for better isolation and scaling. These are the larger pieces of work coming — separate from the in-flight items I showed earlier, which are already underway.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MVP — a working, governed pipeline from a commit all the way to curated, consumable data. I'd love your questions. Happy to take the business and scope questions first, then go as deep on the technical side as you'd like. And for anything that's more of a deep architecture discussion, we can pick it up in the architecture-team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3497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55664"/>
            <a:ext cx="7315200" cy="274320"/>
          </a:xfrm>
          <a:prstGeom prst="rect">
            <a:avLst/>
          </a:prstGeom>
          <a:noFill/>
          <a:ln/>
        </p:spPr>
        <p:txBody>
          <a:bodyPr wrap="square" lIns="0" tIns="0" rIns="0" bIns="0" rtlCol="0" anchor="ctr"/>
          <a:lstStyle/>
          <a:p>
            <a:pPr algn="l" indent="0" marL="0">
              <a:buNone/>
            </a:pPr>
            <a:r>
              <a:rPr lang="en-US" sz="900" dirty="0">
                <a:solidFill>
                  <a:srgbClr val="9C9A92"/>
                </a:solidFill>
              </a:rPr>
              <a:t>GCP Enterprise Data Platform  ·  MVP demo</a:t>
            </a:r>
            <a:endParaRPr lang="en-US" sz="90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10698480" cy="914400"/>
          </a:xfrm>
          <a:prstGeom prst="rect">
            <a:avLst/>
          </a:prstGeom>
          <a:noFill/>
          <a:ln/>
        </p:spPr>
        <p:txBody>
          <a:bodyPr wrap="square" lIns="0" tIns="0" rIns="0" bIns="0" rtlCol="0" anchor="ctr"/>
          <a:lstStyle/>
          <a:p>
            <a:pPr indent="0" marL="0">
              <a:buNone/>
            </a:pPr>
            <a:r>
              <a:rPr lang="en-US" sz="4000" b="1" dirty="0">
                <a:solidFill>
                  <a:srgbClr val="FFFFFF"/>
                </a:solidFill>
              </a:rPr>
              <a:t>GCP Enterprise Data Platform</a:t>
            </a:r>
            <a:endParaRPr lang="en-US" sz="4000" dirty="0"/>
          </a:p>
        </p:txBody>
      </p:sp>
      <p:sp>
        <p:nvSpPr>
          <p:cNvPr id="3" name="Text 1"/>
          <p:cNvSpPr txBox="1"/>
          <p:nvPr/>
        </p:nvSpPr>
        <p:spPr>
          <a:xfrm>
            <a:off x="749808" y="2441448"/>
            <a:ext cx="10515600" cy="548640"/>
          </a:xfrm>
          <a:prstGeom prst="rect">
            <a:avLst/>
          </a:prstGeom>
          <a:noFill/>
          <a:ln/>
        </p:spPr>
        <p:txBody>
          <a:bodyPr wrap="square" lIns="0" tIns="0" rIns="0" bIns="0" rtlCol="0" anchor="ctr"/>
          <a:lstStyle/>
          <a:p>
            <a:pPr indent="0" marL="0">
              <a:buNone/>
            </a:pPr>
            <a:r>
              <a:rPr lang="en-US" sz="2200" dirty="0">
                <a:solidFill>
                  <a:srgbClr val="A9D3F2"/>
                </a:solidFill>
              </a:rPr>
              <a:t>MVP demo — end-to-end pipeline, live</a:t>
            </a:r>
            <a:endParaRPr lang="en-US" sz="2200" dirty="0"/>
          </a:p>
        </p:txBody>
      </p:sp>
      <p:sp>
        <p:nvSpPr>
          <p:cNvPr id="4" name="Text 2"/>
          <p:cNvSpPr txBox="1"/>
          <p:nvPr/>
        </p:nvSpPr>
        <p:spPr>
          <a:xfrm>
            <a:off x="749808" y="3044952"/>
            <a:ext cx="10515600" cy="365760"/>
          </a:xfrm>
          <a:prstGeom prst="rect">
            <a:avLst/>
          </a:prstGeom>
          <a:noFill/>
          <a:ln/>
        </p:spPr>
        <p:txBody>
          <a:bodyPr wrap="square" lIns="0" tIns="0" rIns="0" bIns="0" rtlCol="0" anchor="ctr"/>
          <a:lstStyle/>
          <a:p>
            <a:pPr indent="0" marL="0">
              <a:buNone/>
            </a:pPr>
            <a:r>
              <a:rPr lang="en-US" sz="1350" dirty="0">
                <a:solidFill>
                  <a:srgbClr val="D4E9FB"/>
                </a:solidFill>
              </a:rPr>
              <a:t>60-minute session · a single change followed from commit to curated data</a:t>
            </a:r>
            <a:endParaRPr lang="en-US" sz="1350" dirty="0"/>
          </a:p>
        </p:txBody>
      </p:sp>
      <p:sp>
        <p:nvSpPr>
          <p:cNvPr id="5" name="Text 3"/>
          <p:cNvSpPr txBox="1"/>
          <p:nvPr/>
        </p:nvSpPr>
        <p:spPr>
          <a:xfrm>
            <a:off x="749808" y="4069080"/>
            <a:ext cx="2560320" cy="777240"/>
          </a:xfrm>
          <a:prstGeom prst="rect">
            <a:avLst/>
          </a:prstGeom>
          <a:noFill/>
          <a:ln/>
        </p:spPr>
        <p:txBody>
          <a:bodyPr wrap="square" lIns="0" tIns="0" rIns="0" bIns="0" rtlCol="0" anchor="ctr"/>
          <a:lstStyle/>
          <a:p>
            <a:pPr indent="0" marL="0">
              <a:buNone/>
            </a:pPr>
            <a:r>
              <a:rPr lang="en-US" sz="4600" b="1" dirty="0">
                <a:solidFill>
                  <a:srgbClr val="FFFFFF"/>
                </a:solidFill>
              </a:rPr>
              <a:t>100%</a:t>
            </a:r>
            <a:endParaRPr lang="en-US" sz="4600" dirty="0"/>
          </a:p>
        </p:txBody>
      </p:sp>
      <p:sp>
        <p:nvSpPr>
          <p:cNvPr id="6" name="Text 4"/>
          <p:cNvSpPr txBox="1"/>
          <p:nvPr/>
        </p:nvSpPr>
        <p:spPr>
          <a:xfrm>
            <a:off x="777240" y="4846320"/>
            <a:ext cx="2560320" cy="365760"/>
          </a:xfrm>
          <a:prstGeom prst="rect">
            <a:avLst/>
          </a:prstGeom>
          <a:noFill/>
          <a:ln/>
        </p:spPr>
        <p:txBody>
          <a:bodyPr wrap="square" lIns="0" tIns="0" rIns="0" bIns="0" rtlCol="0" anchor="ctr"/>
          <a:lstStyle/>
          <a:p>
            <a:pPr indent="0" marL="0">
              <a:buNone/>
            </a:pPr>
            <a:r>
              <a:rPr lang="en-US" sz="1300" dirty="0">
                <a:solidFill>
                  <a:srgbClr val="A9D3F2"/>
                </a:solidFill>
              </a:rPr>
              <a:t>Infrastructure as code</a:t>
            </a:r>
            <a:endParaRPr lang="en-US" sz="1300" dirty="0"/>
          </a:p>
        </p:txBody>
      </p:sp>
      <p:sp>
        <p:nvSpPr>
          <p:cNvPr id="7" name="Text 5"/>
          <p:cNvSpPr txBox="1"/>
          <p:nvPr/>
        </p:nvSpPr>
        <p:spPr>
          <a:xfrm>
            <a:off x="3493008" y="4069080"/>
            <a:ext cx="2560320" cy="777240"/>
          </a:xfrm>
          <a:prstGeom prst="rect">
            <a:avLst/>
          </a:prstGeom>
          <a:noFill/>
          <a:ln/>
        </p:spPr>
        <p:txBody>
          <a:bodyPr wrap="square" lIns="0" tIns="0" rIns="0" bIns="0" rtlCol="0" anchor="ctr"/>
          <a:lstStyle/>
          <a:p>
            <a:pPr indent="0" marL="0">
              <a:buNone/>
            </a:pPr>
            <a:r>
              <a:rPr lang="en-US" sz="4600" b="1" dirty="0">
                <a:solidFill>
                  <a:srgbClr val="FFFFFF"/>
                </a:solidFill>
              </a:rPr>
              <a:t>0</a:t>
            </a:r>
            <a:endParaRPr lang="en-US" sz="4600" dirty="0"/>
          </a:p>
        </p:txBody>
      </p:sp>
      <p:sp>
        <p:nvSpPr>
          <p:cNvPr id="8" name="Text 6"/>
          <p:cNvSpPr txBox="1"/>
          <p:nvPr/>
        </p:nvSpPr>
        <p:spPr>
          <a:xfrm>
            <a:off x="3520440" y="4846320"/>
            <a:ext cx="2560320" cy="365760"/>
          </a:xfrm>
          <a:prstGeom prst="rect">
            <a:avLst/>
          </a:prstGeom>
          <a:noFill/>
          <a:ln/>
        </p:spPr>
        <p:txBody>
          <a:bodyPr wrap="square" lIns="0" tIns="0" rIns="0" bIns="0" rtlCol="0" anchor="ctr"/>
          <a:lstStyle/>
          <a:p>
            <a:pPr indent="0" marL="0">
              <a:buNone/>
            </a:pPr>
            <a:r>
              <a:rPr lang="en-US" sz="1300" dirty="0">
                <a:solidFill>
                  <a:srgbClr val="A9D3F2"/>
                </a:solidFill>
              </a:rPr>
              <a:t>Console access</a:t>
            </a:r>
            <a:endParaRPr lang="en-US" sz="1300" dirty="0"/>
          </a:p>
        </p:txBody>
      </p:sp>
      <p:sp>
        <p:nvSpPr>
          <p:cNvPr id="9" name="Text 7"/>
          <p:cNvSpPr txBox="1"/>
          <p:nvPr/>
        </p:nvSpPr>
        <p:spPr>
          <a:xfrm>
            <a:off x="6236208" y="4069080"/>
            <a:ext cx="2560320" cy="777240"/>
          </a:xfrm>
          <a:prstGeom prst="rect">
            <a:avLst/>
          </a:prstGeom>
          <a:noFill/>
          <a:ln/>
        </p:spPr>
        <p:txBody>
          <a:bodyPr wrap="square" lIns="0" tIns="0" rIns="0" bIns="0" rtlCol="0" anchor="ctr"/>
          <a:lstStyle/>
          <a:p>
            <a:pPr indent="0" marL="0">
              <a:buNone/>
            </a:pPr>
            <a:r>
              <a:rPr lang="en-US" sz="4600" b="1" dirty="0">
                <a:solidFill>
                  <a:srgbClr val="FFFFFF"/>
                </a:solidFill>
              </a:rPr>
              <a:t>3</a:t>
            </a:r>
            <a:endParaRPr lang="en-US" sz="4600" dirty="0"/>
          </a:p>
        </p:txBody>
      </p:sp>
      <p:sp>
        <p:nvSpPr>
          <p:cNvPr id="10" name="Text 8"/>
          <p:cNvSpPr txBox="1"/>
          <p:nvPr/>
        </p:nvSpPr>
        <p:spPr>
          <a:xfrm>
            <a:off x="6263640" y="4846320"/>
            <a:ext cx="2560320" cy="365760"/>
          </a:xfrm>
          <a:prstGeom prst="rect">
            <a:avLst/>
          </a:prstGeom>
          <a:noFill/>
          <a:ln/>
        </p:spPr>
        <p:txBody>
          <a:bodyPr wrap="square" lIns="0" tIns="0" rIns="0" bIns="0" rtlCol="0" anchor="ctr"/>
          <a:lstStyle/>
          <a:p>
            <a:pPr indent="0" marL="0">
              <a:buNone/>
            </a:pPr>
            <a:r>
              <a:rPr lang="en-US" sz="1300" dirty="0">
                <a:solidFill>
                  <a:srgbClr val="A9D3F2"/>
                </a:solidFill>
              </a:rPr>
              <a:t>Governed zones</a:t>
            </a:r>
            <a:endParaRPr lang="en-US" sz="1300" dirty="0"/>
          </a:p>
        </p:txBody>
      </p:sp>
      <p:sp>
        <p:nvSpPr>
          <p:cNvPr id="11" name="Text 9"/>
          <p:cNvSpPr txBox="1"/>
          <p:nvPr/>
        </p:nvSpPr>
        <p:spPr>
          <a:xfrm>
            <a:off x="8979408" y="4069080"/>
            <a:ext cx="2560320" cy="777240"/>
          </a:xfrm>
          <a:prstGeom prst="rect">
            <a:avLst/>
          </a:prstGeom>
          <a:noFill/>
          <a:ln/>
        </p:spPr>
        <p:txBody>
          <a:bodyPr wrap="square" lIns="0" tIns="0" rIns="0" bIns="0" rtlCol="0" anchor="ctr"/>
          <a:lstStyle/>
          <a:p>
            <a:pPr indent="0" marL="0">
              <a:buNone/>
            </a:pPr>
            <a:r>
              <a:rPr lang="en-US" sz="4600" b="1" dirty="0">
                <a:solidFill>
                  <a:srgbClr val="FFFFFF"/>
                </a:solidFill>
              </a:rPr>
              <a:t>4</a:t>
            </a:r>
            <a:endParaRPr lang="en-US" sz="4600" dirty="0"/>
          </a:p>
        </p:txBody>
      </p:sp>
      <p:sp>
        <p:nvSpPr>
          <p:cNvPr id="12" name="Text 10"/>
          <p:cNvSpPr txBox="1"/>
          <p:nvPr/>
        </p:nvSpPr>
        <p:spPr>
          <a:xfrm>
            <a:off x="9006840" y="4846320"/>
            <a:ext cx="2560320" cy="365760"/>
          </a:xfrm>
          <a:prstGeom prst="rect">
            <a:avLst/>
          </a:prstGeom>
          <a:noFill/>
          <a:ln/>
        </p:spPr>
        <p:txBody>
          <a:bodyPr wrap="square" lIns="0" tIns="0" rIns="0" bIns="0" rtlCol="0" anchor="ctr"/>
          <a:lstStyle/>
          <a:p>
            <a:pPr indent="0" marL="0">
              <a:buNone/>
            </a:pPr>
            <a:r>
              <a:rPr lang="en-US" sz="1300" dirty="0">
                <a:solidFill>
                  <a:srgbClr val="A9D3F2"/>
                </a:solidFill>
              </a:rPr>
              <a:t>Source views, parallel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9184"/>
            <a:ext cx="11247120" cy="548640"/>
          </a:xfrm>
          <a:prstGeom prst="rect">
            <a:avLst/>
          </a:prstGeom>
          <a:noFill/>
          <a:ln/>
        </p:spPr>
        <p:txBody>
          <a:bodyPr wrap="square" lIns="0" tIns="0" rIns="0" bIns="0" rtlCol="0" anchor="ctr"/>
          <a:lstStyle/>
          <a:p>
            <a:pPr indent="0" marL="0">
              <a:buNone/>
            </a:pPr>
            <a:r>
              <a:rPr lang="en-US" sz="3000" b="1" dirty="0">
                <a:solidFill>
                  <a:srgbClr val="14344F"/>
                </a:solidFill>
              </a:rPr>
              <a:t>Agenda</a:t>
            </a:r>
            <a:endParaRPr lang="en-US" sz="3000" dirty="0"/>
          </a:p>
        </p:txBody>
      </p:sp>
      <p:sp>
        <p:nvSpPr>
          <p:cNvPr id="3" name="Text 1"/>
          <p:cNvSpPr txBox="1"/>
          <p:nvPr/>
        </p:nvSpPr>
        <p:spPr>
          <a:xfrm>
            <a:off x="475488" y="896112"/>
            <a:ext cx="11247120" cy="320040"/>
          </a:xfrm>
          <a:prstGeom prst="rect">
            <a:avLst/>
          </a:prstGeom>
          <a:noFill/>
          <a:ln/>
        </p:spPr>
        <p:txBody>
          <a:bodyPr wrap="square" lIns="0" tIns="0" rIns="0" bIns="0" rtlCol="0" anchor="ctr"/>
          <a:lstStyle/>
          <a:p>
            <a:pPr indent="0" marL="0">
              <a:buNone/>
            </a:pPr>
            <a:r>
              <a:rPr lang="en-US" sz="1350" dirty="0">
                <a:solidFill>
                  <a:srgbClr val="5B6B79"/>
                </a:solidFill>
              </a:rPr>
              <a:t>60-minute session</a:t>
            </a:r>
            <a:endParaRPr lang="en-US" sz="1350" dirty="0"/>
          </a:p>
        </p:txBody>
      </p:sp>
      <p:sp>
        <p:nvSpPr>
          <p:cNvPr id="4" name="Shape 2"/>
          <p:cNvSpPr/>
          <p:nvPr/>
        </p:nvSpPr>
        <p:spPr>
          <a:xfrm>
            <a:off x="658368" y="1609344"/>
            <a:ext cx="438912" cy="438912"/>
          </a:xfrm>
          <a:prstGeom prst="ellipse">
            <a:avLst/>
          </a:prstGeom>
          <a:solidFill>
            <a:srgbClr val="1C6EA8"/>
          </a:solidFill>
          <a:ln w="12700">
            <a:solidFill>
              <a:srgbClr val="1C6EA8"/>
            </a:solidFill>
            <a:prstDash val="solid"/>
          </a:ln>
        </p:spPr>
      </p:sp>
      <p:sp>
        <p:nvSpPr>
          <p:cNvPr id="5" name="Text 3"/>
          <p:cNvSpPr txBox="1"/>
          <p:nvPr/>
        </p:nvSpPr>
        <p:spPr>
          <a:xfrm>
            <a:off x="658368" y="16093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325880" y="1508760"/>
            <a:ext cx="8595360" cy="640080"/>
          </a:xfrm>
          <a:prstGeom prst="rect">
            <a:avLst/>
          </a:prstGeom>
          <a:noFill/>
          <a:ln/>
        </p:spPr>
        <p:txBody>
          <a:bodyPr wrap="square" lIns="0" tIns="0" rIns="0" bIns="0" rtlCol="0" anchor="ctr"/>
          <a:lstStyle/>
          <a:p>
            <a:pPr algn="l" indent="0" marL="0">
              <a:buNone/>
            </a:pPr>
            <a:r>
              <a:rPr lang="en-US" sz="1500" b="1" dirty="0">
                <a:solidFill>
                  <a:srgbClr val="14344F"/>
                </a:solidFill>
              </a:rPr>
              <a:t>Welcome &amp; context</a:t>
            </a:r>
            <a:pPr algn="l" indent="0" marL="0">
              <a:buNone/>
            </a:pPr>
            <a:r>
              <a:rPr lang="en-US" sz="1250" dirty="0">
                <a:solidFill>
                  <a:srgbClr val="5B6B79"/>
                </a:solidFill>
              </a:rPr>
              <a:t>   —   where the programme stands and what this MVP proves</a:t>
            </a:r>
            <a:endParaRPr lang="en-US" sz="1500" dirty="0"/>
          </a:p>
        </p:txBody>
      </p:sp>
      <p:sp>
        <p:nvSpPr>
          <p:cNvPr id="7" name="Shape 5"/>
          <p:cNvSpPr/>
          <p:nvPr/>
        </p:nvSpPr>
        <p:spPr>
          <a:xfrm>
            <a:off x="10149840" y="1627632"/>
            <a:ext cx="1280160" cy="402336"/>
          </a:xfrm>
          <a:prstGeom prst="roundRect">
            <a:avLst>
              <a:gd name="adj" fmla="val 22727"/>
            </a:avLst>
          </a:prstGeom>
          <a:solidFill>
            <a:srgbClr val="F1F7FD"/>
          </a:solidFill>
          <a:ln w="12700">
            <a:solidFill>
              <a:srgbClr val="3291D6"/>
            </a:solidFill>
            <a:prstDash val="solid"/>
          </a:ln>
        </p:spPr>
      </p:sp>
      <p:sp>
        <p:nvSpPr>
          <p:cNvPr id="8" name="Text 6"/>
          <p:cNvSpPr txBox="1"/>
          <p:nvPr/>
        </p:nvSpPr>
        <p:spPr>
          <a:xfrm>
            <a:off x="10149840" y="1627632"/>
            <a:ext cx="1280160" cy="402336"/>
          </a:xfrm>
          <a:prstGeom prst="rect">
            <a:avLst/>
          </a:prstGeom>
          <a:noFill/>
          <a:ln/>
        </p:spPr>
        <p:txBody>
          <a:bodyPr wrap="square" lIns="0" tIns="0" rIns="0" bIns="0" rtlCol="0" anchor="ctr"/>
          <a:lstStyle/>
          <a:p>
            <a:pPr algn="ctr" indent="0" marL="0">
              <a:buNone/>
            </a:pPr>
            <a:r>
              <a:rPr lang="en-US" sz="1250" b="1" dirty="0">
                <a:solidFill>
                  <a:srgbClr val="0F4C7A"/>
                </a:solidFill>
              </a:rPr>
              <a:t>3 min</a:t>
            </a:r>
            <a:endParaRPr lang="en-US" sz="1250" dirty="0"/>
          </a:p>
        </p:txBody>
      </p:sp>
      <p:sp>
        <p:nvSpPr>
          <p:cNvPr id="9" name="Shape 7"/>
          <p:cNvSpPr/>
          <p:nvPr/>
        </p:nvSpPr>
        <p:spPr>
          <a:xfrm>
            <a:off x="658368" y="2340864"/>
            <a:ext cx="438912" cy="438912"/>
          </a:xfrm>
          <a:prstGeom prst="ellipse">
            <a:avLst/>
          </a:prstGeom>
          <a:solidFill>
            <a:srgbClr val="1C6EA8"/>
          </a:solidFill>
          <a:ln w="12700">
            <a:solidFill>
              <a:srgbClr val="1C6EA8"/>
            </a:solidFill>
            <a:prstDash val="solid"/>
          </a:ln>
        </p:spPr>
      </p:sp>
      <p:sp>
        <p:nvSpPr>
          <p:cNvPr id="10" name="Text 8"/>
          <p:cNvSpPr txBox="1"/>
          <p:nvPr/>
        </p:nvSpPr>
        <p:spPr>
          <a:xfrm>
            <a:off x="658368" y="234086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Text 9"/>
          <p:cNvSpPr txBox="1"/>
          <p:nvPr/>
        </p:nvSpPr>
        <p:spPr>
          <a:xfrm>
            <a:off x="1325880" y="2240280"/>
            <a:ext cx="8595360" cy="640080"/>
          </a:xfrm>
          <a:prstGeom prst="rect">
            <a:avLst/>
          </a:prstGeom>
          <a:noFill/>
          <a:ln/>
        </p:spPr>
        <p:txBody>
          <a:bodyPr wrap="square" lIns="0" tIns="0" rIns="0" bIns="0" rtlCol="0" anchor="ctr"/>
          <a:lstStyle/>
          <a:p>
            <a:pPr algn="l" indent="0" marL="0">
              <a:buNone/>
            </a:pPr>
            <a:r>
              <a:rPr lang="en-US" sz="1500" b="1" dirty="0">
                <a:solidFill>
                  <a:srgbClr val="14344F"/>
                </a:solidFill>
              </a:rPr>
              <a:t>What's new &amp; what to expect</a:t>
            </a:r>
            <a:pPr algn="l" indent="0" marL="0">
              <a:buNone/>
            </a:pPr>
            <a:r>
              <a:rPr lang="en-US" sz="1250" dirty="0">
                <a:solidFill>
                  <a:srgbClr val="5B6B79"/>
                </a:solidFill>
              </a:rPr>
              <a:t>   —   capabilities delivered; what's live vs in development</a:t>
            </a:r>
            <a:endParaRPr lang="en-US" sz="1500" dirty="0"/>
          </a:p>
        </p:txBody>
      </p:sp>
      <p:sp>
        <p:nvSpPr>
          <p:cNvPr id="12" name="Shape 10"/>
          <p:cNvSpPr/>
          <p:nvPr/>
        </p:nvSpPr>
        <p:spPr>
          <a:xfrm>
            <a:off x="10149840" y="2359152"/>
            <a:ext cx="1280160" cy="402336"/>
          </a:xfrm>
          <a:prstGeom prst="roundRect">
            <a:avLst>
              <a:gd name="adj" fmla="val 22727"/>
            </a:avLst>
          </a:prstGeom>
          <a:solidFill>
            <a:srgbClr val="F1F7FD"/>
          </a:solidFill>
          <a:ln w="12700">
            <a:solidFill>
              <a:srgbClr val="3291D6"/>
            </a:solidFill>
            <a:prstDash val="solid"/>
          </a:ln>
        </p:spPr>
      </p:sp>
      <p:sp>
        <p:nvSpPr>
          <p:cNvPr id="13" name="Text 11"/>
          <p:cNvSpPr txBox="1"/>
          <p:nvPr/>
        </p:nvSpPr>
        <p:spPr>
          <a:xfrm>
            <a:off x="10149840" y="2359152"/>
            <a:ext cx="1280160" cy="402336"/>
          </a:xfrm>
          <a:prstGeom prst="rect">
            <a:avLst/>
          </a:prstGeom>
          <a:noFill/>
          <a:ln/>
        </p:spPr>
        <p:txBody>
          <a:bodyPr wrap="square" lIns="0" tIns="0" rIns="0" bIns="0" rtlCol="0" anchor="ctr"/>
          <a:lstStyle/>
          <a:p>
            <a:pPr algn="ctr" indent="0" marL="0">
              <a:buNone/>
            </a:pPr>
            <a:r>
              <a:rPr lang="en-US" sz="1250" b="1" dirty="0">
                <a:solidFill>
                  <a:srgbClr val="0F4C7A"/>
                </a:solidFill>
              </a:rPr>
              <a:t>4 min</a:t>
            </a:r>
            <a:endParaRPr lang="en-US" sz="1250" dirty="0"/>
          </a:p>
        </p:txBody>
      </p:sp>
      <p:sp>
        <p:nvSpPr>
          <p:cNvPr id="14" name="Shape 12"/>
          <p:cNvSpPr/>
          <p:nvPr/>
        </p:nvSpPr>
        <p:spPr>
          <a:xfrm>
            <a:off x="658368" y="3072384"/>
            <a:ext cx="438912" cy="438912"/>
          </a:xfrm>
          <a:prstGeom prst="ellipse">
            <a:avLst/>
          </a:prstGeom>
          <a:solidFill>
            <a:srgbClr val="1C6EA8"/>
          </a:solidFill>
          <a:ln w="12700">
            <a:solidFill>
              <a:srgbClr val="1C6EA8"/>
            </a:solidFill>
            <a:prstDash val="solid"/>
          </a:ln>
        </p:spPr>
      </p:sp>
      <p:sp>
        <p:nvSpPr>
          <p:cNvPr id="15" name="Text 13"/>
          <p:cNvSpPr txBox="1"/>
          <p:nvPr/>
        </p:nvSpPr>
        <p:spPr>
          <a:xfrm>
            <a:off x="658368" y="307238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6" name="Text 14"/>
          <p:cNvSpPr txBox="1"/>
          <p:nvPr/>
        </p:nvSpPr>
        <p:spPr>
          <a:xfrm>
            <a:off x="1325880" y="2971800"/>
            <a:ext cx="8595360" cy="640080"/>
          </a:xfrm>
          <a:prstGeom prst="rect">
            <a:avLst/>
          </a:prstGeom>
          <a:noFill/>
          <a:ln/>
        </p:spPr>
        <p:txBody>
          <a:bodyPr wrap="square" lIns="0" tIns="0" rIns="0" bIns="0" rtlCol="0" anchor="ctr"/>
          <a:lstStyle/>
          <a:p>
            <a:pPr algn="l" indent="0" marL="0">
              <a:buNone/>
            </a:pPr>
            <a:r>
              <a:rPr lang="en-US" sz="1500" b="1" dirty="0">
                <a:solidFill>
                  <a:srgbClr val="14344F"/>
                </a:solidFill>
              </a:rPr>
              <a:t>Architecture walkthrough</a:t>
            </a:r>
            <a:pPr algn="l" indent="0" marL="0">
              <a:buNone/>
            </a:pPr>
            <a:r>
              <a:rPr lang="en-US" sz="1250" dirty="0">
                <a:solidFill>
                  <a:srgbClr val="5B6B79"/>
                </a:solidFill>
              </a:rPr>
              <a:t>   —   the end-to-end platform at a glance</a:t>
            </a:r>
            <a:endParaRPr lang="en-US" sz="1500" dirty="0"/>
          </a:p>
        </p:txBody>
      </p:sp>
      <p:sp>
        <p:nvSpPr>
          <p:cNvPr id="17" name="Shape 15"/>
          <p:cNvSpPr/>
          <p:nvPr/>
        </p:nvSpPr>
        <p:spPr>
          <a:xfrm>
            <a:off x="10149840" y="3090672"/>
            <a:ext cx="1280160" cy="402336"/>
          </a:xfrm>
          <a:prstGeom prst="roundRect">
            <a:avLst>
              <a:gd name="adj" fmla="val 22727"/>
            </a:avLst>
          </a:prstGeom>
          <a:solidFill>
            <a:srgbClr val="F1F7FD"/>
          </a:solidFill>
          <a:ln w="12700">
            <a:solidFill>
              <a:srgbClr val="3291D6"/>
            </a:solidFill>
            <a:prstDash val="solid"/>
          </a:ln>
        </p:spPr>
      </p:sp>
      <p:sp>
        <p:nvSpPr>
          <p:cNvPr id="18" name="Text 16"/>
          <p:cNvSpPr txBox="1"/>
          <p:nvPr/>
        </p:nvSpPr>
        <p:spPr>
          <a:xfrm>
            <a:off x="10149840" y="3090672"/>
            <a:ext cx="1280160" cy="402336"/>
          </a:xfrm>
          <a:prstGeom prst="rect">
            <a:avLst/>
          </a:prstGeom>
          <a:noFill/>
          <a:ln/>
        </p:spPr>
        <p:txBody>
          <a:bodyPr wrap="square" lIns="0" tIns="0" rIns="0" bIns="0" rtlCol="0" anchor="ctr"/>
          <a:lstStyle/>
          <a:p>
            <a:pPr algn="ctr" indent="0" marL="0">
              <a:buNone/>
            </a:pPr>
            <a:r>
              <a:rPr lang="en-US" sz="1250" b="1" dirty="0">
                <a:solidFill>
                  <a:srgbClr val="0F4C7A"/>
                </a:solidFill>
              </a:rPr>
              <a:t>3 min</a:t>
            </a:r>
            <a:endParaRPr lang="en-US" sz="1250" dirty="0"/>
          </a:p>
        </p:txBody>
      </p:sp>
      <p:sp>
        <p:nvSpPr>
          <p:cNvPr id="19" name="Shape 17"/>
          <p:cNvSpPr/>
          <p:nvPr/>
        </p:nvSpPr>
        <p:spPr>
          <a:xfrm>
            <a:off x="457200" y="3703320"/>
            <a:ext cx="11247120" cy="640080"/>
          </a:xfrm>
          <a:prstGeom prst="roundRect">
            <a:avLst>
              <a:gd name="adj" fmla="val 11429"/>
            </a:avLst>
          </a:prstGeom>
          <a:solidFill>
            <a:srgbClr val="E4F1FB"/>
          </a:solidFill>
          <a:ln w="15875">
            <a:solidFill>
              <a:srgbClr val="3291D6"/>
            </a:solidFill>
            <a:prstDash val="solid"/>
          </a:ln>
        </p:spPr>
      </p:sp>
      <p:sp>
        <p:nvSpPr>
          <p:cNvPr id="20" name="Shape 18"/>
          <p:cNvSpPr/>
          <p:nvPr/>
        </p:nvSpPr>
        <p:spPr>
          <a:xfrm>
            <a:off x="658368" y="3803904"/>
            <a:ext cx="438912" cy="438912"/>
          </a:xfrm>
          <a:prstGeom prst="ellipse">
            <a:avLst/>
          </a:prstGeom>
          <a:solidFill>
            <a:srgbClr val="1C6EA8"/>
          </a:solidFill>
          <a:ln w="12700">
            <a:solidFill>
              <a:srgbClr val="1C6EA8"/>
            </a:solidFill>
            <a:prstDash val="solid"/>
          </a:ln>
        </p:spPr>
      </p:sp>
      <p:sp>
        <p:nvSpPr>
          <p:cNvPr id="21" name="Text 19"/>
          <p:cNvSpPr txBox="1"/>
          <p:nvPr/>
        </p:nvSpPr>
        <p:spPr>
          <a:xfrm>
            <a:off x="658368" y="380390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txBox="1"/>
          <p:nvPr/>
        </p:nvSpPr>
        <p:spPr>
          <a:xfrm>
            <a:off x="1325880" y="3703320"/>
            <a:ext cx="8595360" cy="640080"/>
          </a:xfrm>
          <a:prstGeom prst="rect">
            <a:avLst/>
          </a:prstGeom>
          <a:noFill/>
          <a:ln/>
        </p:spPr>
        <p:txBody>
          <a:bodyPr wrap="square" lIns="0" tIns="0" rIns="0" bIns="0" rtlCol="0" anchor="ctr"/>
          <a:lstStyle/>
          <a:p>
            <a:pPr algn="l" indent="0" marL="0">
              <a:buNone/>
            </a:pPr>
            <a:r>
              <a:rPr lang="en-US" sz="1500" b="1" dirty="0">
                <a:solidFill>
                  <a:srgbClr val="14344F"/>
                </a:solidFill>
              </a:rPr>
              <a:t>Live demo: commit → curated</a:t>
            </a:r>
            <a:pPr algn="l" indent="0" marL="0">
              <a:buNone/>
            </a:pPr>
            <a:r>
              <a:rPr lang="en-US" sz="1250" dirty="0">
                <a:solidFill>
                  <a:srgbClr val="5B6B79"/>
                </a:solidFill>
              </a:rPr>
              <a:t>   —   a single change, followed through the full pipeline</a:t>
            </a:r>
            <a:endParaRPr lang="en-US" sz="1500" dirty="0"/>
          </a:p>
        </p:txBody>
      </p:sp>
      <p:sp>
        <p:nvSpPr>
          <p:cNvPr id="23" name="Shape 21"/>
          <p:cNvSpPr/>
          <p:nvPr/>
        </p:nvSpPr>
        <p:spPr>
          <a:xfrm>
            <a:off x="10149840" y="3822192"/>
            <a:ext cx="1280160" cy="402336"/>
          </a:xfrm>
          <a:prstGeom prst="roundRect">
            <a:avLst>
              <a:gd name="adj" fmla="val 22727"/>
            </a:avLst>
          </a:prstGeom>
          <a:solidFill>
            <a:srgbClr val="1C6EA8"/>
          </a:solidFill>
          <a:ln w="12700">
            <a:solidFill>
              <a:srgbClr val="1C6EA8"/>
            </a:solidFill>
            <a:prstDash val="solid"/>
          </a:ln>
        </p:spPr>
      </p:sp>
      <p:sp>
        <p:nvSpPr>
          <p:cNvPr id="24" name="Text 22"/>
          <p:cNvSpPr txBox="1"/>
          <p:nvPr/>
        </p:nvSpPr>
        <p:spPr>
          <a:xfrm>
            <a:off x="10149840" y="3822192"/>
            <a:ext cx="1280160" cy="402336"/>
          </a:xfrm>
          <a:prstGeom prst="rect">
            <a:avLst/>
          </a:prstGeom>
          <a:noFill/>
          <a:ln/>
        </p:spPr>
        <p:txBody>
          <a:bodyPr wrap="square" lIns="0" tIns="0" rIns="0" bIns="0" rtlCol="0" anchor="ctr"/>
          <a:lstStyle/>
          <a:p>
            <a:pPr algn="ctr" indent="0" marL="0">
              <a:buNone/>
            </a:pPr>
            <a:r>
              <a:rPr lang="en-US" sz="1250" b="1" dirty="0">
                <a:solidFill>
                  <a:srgbClr val="FFFFFF"/>
                </a:solidFill>
              </a:rPr>
              <a:t>37 min</a:t>
            </a:r>
            <a:endParaRPr lang="en-US" sz="1250" dirty="0"/>
          </a:p>
        </p:txBody>
      </p:sp>
      <p:sp>
        <p:nvSpPr>
          <p:cNvPr id="25" name="Shape 23"/>
          <p:cNvSpPr/>
          <p:nvPr/>
        </p:nvSpPr>
        <p:spPr>
          <a:xfrm>
            <a:off x="658368" y="4535424"/>
            <a:ext cx="438912" cy="438912"/>
          </a:xfrm>
          <a:prstGeom prst="ellipse">
            <a:avLst/>
          </a:prstGeom>
          <a:solidFill>
            <a:srgbClr val="1C6EA8"/>
          </a:solidFill>
          <a:ln w="12700">
            <a:solidFill>
              <a:srgbClr val="1C6EA8"/>
            </a:solidFill>
            <a:prstDash val="solid"/>
          </a:ln>
        </p:spPr>
      </p:sp>
      <p:sp>
        <p:nvSpPr>
          <p:cNvPr id="26" name="Text 24"/>
          <p:cNvSpPr txBox="1"/>
          <p:nvPr/>
        </p:nvSpPr>
        <p:spPr>
          <a:xfrm>
            <a:off x="658368" y="453542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7" name="Text 25"/>
          <p:cNvSpPr txBox="1"/>
          <p:nvPr/>
        </p:nvSpPr>
        <p:spPr>
          <a:xfrm>
            <a:off x="1325880" y="4434840"/>
            <a:ext cx="8595360" cy="640080"/>
          </a:xfrm>
          <a:prstGeom prst="rect">
            <a:avLst/>
          </a:prstGeom>
          <a:noFill/>
          <a:ln/>
        </p:spPr>
        <p:txBody>
          <a:bodyPr wrap="square" lIns="0" tIns="0" rIns="0" bIns="0" rtlCol="0" anchor="ctr"/>
          <a:lstStyle/>
          <a:p>
            <a:pPr algn="l" indent="0" marL="0">
              <a:buNone/>
            </a:pPr>
            <a:r>
              <a:rPr lang="en-US" sz="1500" b="1" dirty="0">
                <a:solidFill>
                  <a:srgbClr val="14344F"/>
                </a:solidFill>
              </a:rPr>
              <a:t>What's next</a:t>
            </a:r>
            <a:pPr algn="l" indent="0" marL="0">
              <a:buNone/>
            </a:pPr>
            <a:r>
              <a:rPr lang="en-US" sz="1250" dirty="0">
                <a:solidFill>
                  <a:srgbClr val="5B6B79"/>
                </a:solidFill>
              </a:rPr>
              <a:t>   —   new workstreams beyond the MVP</a:t>
            </a:r>
            <a:endParaRPr lang="en-US" sz="1500" dirty="0"/>
          </a:p>
        </p:txBody>
      </p:sp>
      <p:sp>
        <p:nvSpPr>
          <p:cNvPr id="28" name="Shape 26"/>
          <p:cNvSpPr/>
          <p:nvPr/>
        </p:nvSpPr>
        <p:spPr>
          <a:xfrm>
            <a:off x="10149840" y="4553712"/>
            <a:ext cx="1280160" cy="402336"/>
          </a:xfrm>
          <a:prstGeom prst="roundRect">
            <a:avLst>
              <a:gd name="adj" fmla="val 22727"/>
            </a:avLst>
          </a:prstGeom>
          <a:solidFill>
            <a:srgbClr val="F1F7FD"/>
          </a:solidFill>
          <a:ln w="12700">
            <a:solidFill>
              <a:srgbClr val="3291D6"/>
            </a:solidFill>
            <a:prstDash val="solid"/>
          </a:ln>
        </p:spPr>
      </p:sp>
      <p:sp>
        <p:nvSpPr>
          <p:cNvPr id="29" name="Text 27"/>
          <p:cNvSpPr txBox="1"/>
          <p:nvPr/>
        </p:nvSpPr>
        <p:spPr>
          <a:xfrm>
            <a:off x="10149840" y="4553712"/>
            <a:ext cx="1280160" cy="402336"/>
          </a:xfrm>
          <a:prstGeom prst="rect">
            <a:avLst/>
          </a:prstGeom>
          <a:noFill/>
          <a:ln/>
        </p:spPr>
        <p:txBody>
          <a:bodyPr wrap="square" lIns="0" tIns="0" rIns="0" bIns="0" rtlCol="0" anchor="ctr"/>
          <a:lstStyle/>
          <a:p>
            <a:pPr algn="ctr" indent="0" marL="0">
              <a:buNone/>
            </a:pPr>
            <a:r>
              <a:rPr lang="en-US" sz="1250" b="1" dirty="0">
                <a:solidFill>
                  <a:srgbClr val="0F4C7A"/>
                </a:solidFill>
              </a:rPr>
              <a:t>5 min</a:t>
            </a:r>
            <a:endParaRPr lang="en-US" sz="1250" dirty="0"/>
          </a:p>
        </p:txBody>
      </p:sp>
      <p:sp>
        <p:nvSpPr>
          <p:cNvPr id="30" name="Shape 28"/>
          <p:cNvSpPr/>
          <p:nvPr/>
        </p:nvSpPr>
        <p:spPr>
          <a:xfrm>
            <a:off x="658368" y="5266944"/>
            <a:ext cx="438912" cy="438912"/>
          </a:xfrm>
          <a:prstGeom prst="ellipse">
            <a:avLst/>
          </a:prstGeom>
          <a:solidFill>
            <a:srgbClr val="1C6EA8"/>
          </a:solidFill>
          <a:ln w="12700">
            <a:solidFill>
              <a:srgbClr val="1C6EA8"/>
            </a:solidFill>
            <a:prstDash val="solid"/>
          </a:ln>
        </p:spPr>
      </p:sp>
      <p:sp>
        <p:nvSpPr>
          <p:cNvPr id="31" name="Text 29"/>
          <p:cNvSpPr txBox="1"/>
          <p:nvPr/>
        </p:nvSpPr>
        <p:spPr>
          <a:xfrm>
            <a:off x="658368" y="5266944"/>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2" name="Text 30"/>
          <p:cNvSpPr txBox="1"/>
          <p:nvPr/>
        </p:nvSpPr>
        <p:spPr>
          <a:xfrm>
            <a:off x="1325880" y="5166360"/>
            <a:ext cx="8595360" cy="640080"/>
          </a:xfrm>
          <a:prstGeom prst="rect">
            <a:avLst/>
          </a:prstGeom>
          <a:noFill/>
          <a:ln/>
        </p:spPr>
        <p:txBody>
          <a:bodyPr wrap="square" lIns="0" tIns="0" rIns="0" bIns="0" rtlCol="0" anchor="ctr"/>
          <a:lstStyle/>
          <a:p>
            <a:pPr algn="l" indent="0" marL="0">
              <a:buNone/>
            </a:pPr>
            <a:r>
              <a:rPr lang="en-US" sz="1500" b="1" dirty="0">
                <a:solidFill>
                  <a:srgbClr val="14344F"/>
                </a:solidFill>
              </a:rPr>
              <a:t>Q&amp;A &amp; discussion</a:t>
            </a:r>
            <a:pPr algn="l" indent="0" marL="0">
              <a:buNone/>
            </a:pPr>
            <a:r>
              <a:rPr lang="en-US" sz="1250" dirty="0">
                <a:solidFill>
                  <a:srgbClr val="5B6B79"/>
                </a:solidFill>
              </a:rPr>
              <a:t>   —   open floor</a:t>
            </a:r>
            <a:endParaRPr lang="en-US" sz="1500" dirty="0"/>
          </a:p>
        </p:txBody>
      </p:sp>
      <p:sp>
        <p:nvSpPr>
          <p:cNvPr id="33" name="Shape 31"/>
          <p:cNvSpPr/>
          <p:nvPr/>
        </p:nvSpPr>
        <p:spPr>
          <a:xfrm>
            <a:off x="10149840" y="5285232"/>
            <a:ext cx="1280160" cy="402336"/>
          </a:xfrm>
          <a:prstGeom prst="roundRect">
            <a:avLst>
              <a:gd name="adj" fmla="val 22727"/>
            </a:avLst>
          </a:prstGeom>
          <a:solidFill>
            <a:srgbClr val="F1F7FD"/>
          </a:solidFill>
          <a:ln w="12700">
            <a:solidFill>
              <a:srgbClr val="3291D6"/>
            </a:solidFill>
            <a:prstDash val="solid"/>
          </a:ln>
        </p:spPr>
      </p:sp>
      <p:sp>
        <p:nvSpPr>
          <p:cNvPr id="34" name="Text 32"/>
          <p:cNvSpPr txBox="1"/>
          <p:nvPr/>
        </p:nvSpPr>
        <p:spPr>
          <a:xfrm>
            <a:off x="10149840" y="5285232"/>
            <a:ext cx="1280160" cy="402336"/>
          </a:xfrm>
          <a:prstGeom prst="rect">
            <a:avLst/>
          </a:prstGeom>
          <a:noFill/>
          <a:ln/>
        </p:spPr>
        <p:txBody>
          <a:bodyPr wrap="square" lIns="0" tIns="0" rIns="0" bIns="0" rtlCol="0" anchor="ctr"/>
          <a:lstStyle/>
          <a:p>
            <a:pPr algn="ctr" indent="0" marL="0">
              <a:buNone/>
            </a:pPr>
            <a:r>
              <a:rPr lang="en-US" sz="1250" b="1" dirty="0">
                <a:solidFill>
                  <a:srgbClr val="0F4C7A"/>
                </a:solidFill>
              </a:rPr>
              <a:t>8 min</a:t>
            </a:r>
            <a:endParaRPr lang="en-US" sz="125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9184"/>
            <a:ext cx="11247120" cy="548640"/>
          </a:xfrm>
          <a:prstGeom prst="rect">
            <a:avLst/>
          </a:prstGeom>
          <a:noFill/>
          <a:ln/>
        </p:spPr>
        <p:txBody>
          <a:bodyPr wrap="square" lIns="0" tIns="0" rIns="0" bIns="0" rtlCol="0" anchor="ctr"/>
          <a:lstStyle/>
          <a:p>
            <a:pPr indent="0" marL="0">
              <a:buNone/>
            </a:pPr>
            <a:r>
              <a:rPr lang="en-US" sz="3000" b="1" dirty="0">
                <a:solidFill>
                  <a:srgbClr val="14344F"/>
                </a:solidFill>
              </a:rPr>
              <a:t>What's new in the GCP environment</a:t>
            </a:r>
            <a:endParaRPr lang="en-US" sz="3000" dirty="0"/>
          </a:p>
        </p:txBody>
      </p:sp>
      <p:sp>
        <p:nvSpPr>
          <p:cNvPr id="3" name="Text 1"/>
          <p:cNvSpPr txBox="1"/>
          <p:nvPr/>
        </p:nvSpPr>
        <p:spPr>
          <a:xfrm>
            <a:off x="475488" y="896112"/>
            <a:ext cx="11247120" cy="320040"/>
          </a:xfrm>
          <a:prstGeom prst="rect">
            <a:avLst/>
          </a:prstGeom>
          <a:noFill/>
          <a:ln/>
        </p:spPr>
        <p:txBody>
          <a:bodyPr wrap="square" lIns="0" tIns="0" rIns="0" bIns="0" rtlCol="0" anchor="ctr"/>
          <a:lstStyle/>
          <a:p>
            <a:pPr indent="0" marL="0">
              <a:buNone/>
            </a:pPr>
            <a:r>
              <a:rPr lang="en-US" sz="1350" dirty="0">
                <a:solidFill>
                  <a:srgbClr val="5B6B79"/>
                </a:solidFill>
              </a:rPr>
              <a:t>Capabilities delivered in this MVP — from design-stage to a working end-to-end pipeline.</a:t>
            </a:r>
            <a:endParaRPr lang="en-US" sz="1350" dirty="0"/>
          </a:p>
        </p:txBody>
      </p:sp>
      <p:sp>
        <p:nvSpPr>
          <p:cNvPr id="4" name="Shape 2"/>
          <p:cNvSpPr/>
          <p:nvPr/>
        </p:nvSpPr>
        <p:spPr>
          <a:xfrm>
            <a:off x="457200" y="1325880"/>
            <a:ext cx="11247120" cy="566928"/>
          </a:xfrm>
          <a:prstGeom prst="roundRect">
            <a:avLst>
              <a:gd name="adj" fmla="val 9677"/>
            </a:avLst>
          </a:prstGeom>
          <a:solidFill>
            <a:srgbClr val="E4F1FB"/>
          </a:solidFill>
          <a:ln w="12700">
            <a:solidFill>
              <a:srgbClr val="3291D6"/>
            </a:solidFill>
            <a:prstDash val="solid"/>
          </a:ln>
        </p:spPr>
      </p:sp>
      <p:sp>
        <p:nvSpPr>
          <p:cNvPr id="5" name="Text 3"/>
          <p:cNvSpPr txBox="1"/>
          <p:nvPr/>
        </p:nvSpPr>
        <p:spPr>
          <a:xfrm>
            <a:off x="731520" y="1325880"/>
            <a:ext cx="10698480" cy="566928"/>
          </a:xfrm>
          <a:prstGeom prst="rect">
            <a:avLst/>
          </a:prstGeom>
          <a:noFill/>
          <a:ln/>
        </p:spPr>
        <p:txBody>
          <a:bodyPr wrap="square" lIns="0" tIns="0" rIns="0" bIns="0" rtlCol="0" anchor="ctr"/>
          <a:lstStyle/>
          <a:p>
            <a:pPr algn="l" indent="0" marL="0">
              <a:buNone/>
            </a:pPr>
            <a:r>
              <a:rPr lang="en-US" sz="1250" b="1" dirty="0">
                <a:solidFill>
                  <a:srgbClr val="0F4C7A"/>
                </a:solidFill>
              </a:rPr>
              <a:t>In scope:  </a:t>
            </a:r>
            <a:pPr algn="l" indent="0" marL="0">
              <a:buNone/>
            </a:pPr>
            <a:r>
              <a:rPr lang="en-US" sz="1250" dirty="0">
                <a:solidFill>
                  <a:srgbClr val="1C6EA8"/>
                </a:solidFill>
              </a:rPr>
              <a:t>the pipeline spine, proven end to end.    </a:t>
            </a:r>
            <a:pPr algn="l" indent="0" marL="0">
              <a:buNone/>
            </a:pPr>
            <a:r>
              <a:rPr lang="en-US" sz="1250" b="1" dirty="0">
                <a:solidFill>
                  <a:srgbClr val="0F4C7A"/>
                </a:solidFill>
              </a:rPr>
              <a:t>Not in this MVP:  </a:t>
            </a:r>
            <a:pPr algn="l" indent="0" marL="0">
              <a:buNone/>
            </a:pPr>
            <a:r>
              <a:rPr lang="en-US" sz="1250" dirty="0">
                <a:solidFill>
                  <a:srgbClr val="1C6EA8"/>
                </a:solidFill>
              </a:rPr>
              <a:t>full source coverage · production hardening · legacy decommission.</a:t>
            </a:r>
            <a:endParaRPr lang="en-US" sz="1250" dirty="0"/>
          </a:p>
        </p:txBody>
      </p:sp>
      <p:sp>
        <p:nvSpPr>
          <p:cNvPr id="6" name="Shape 4"/>
          <p:cNvSpPr/>
          <p:nvPr/>
        </p:nvSpPr>
        <p:spPr>
          <a:xfrm>
            <a:off x="457200" y="2103120"/>
            <a:ext cx="3520440" cy="1828800"/>
          </a:xfrm>
          <a:prstGeom prst="roundRect">
            <a:avLst>
              <a:gd name="adj" fmla="val 5000"/>
            </a:avLst>
          </a:prstGeom>
          <a:solidFill>
            <a:srgbClr val="F1F7FD"/>
          </a:solidFill>
          <a:ln w="12700">
            <a:solidFill>
              <a:srgbClr val="E4F1FB"/>
            </a:solidFill>
            <a:prstDash val="solid"/>
          </a:ln>
        </p:spPr>
      </p:sp>
      <p:sp>
        <p:nvSpPr>
          <p:cNvPr id="7" name="Shape 5"/>
          <p:cNvSpPr/>
          <p:nvPr/>
        </p:nvSpPr>
        <p:spPr>
          <a:xfrm>
            <a:off x="731520" y="2322576"/>
            <a:ext cx="512064" cy="512064"/>
          </a:xfrm>
          <a:prstGeom prst="roundRect">
            <a:avLst>
              <a:gd name="adj" fmla="val 17857"/>
            </a:avLst>
          </a:prstGeom>
          <a:solidFill>
            <a:srgbClr val="FFFFFF"/>
          </a:solidFill>
          <a:ln w="12700">
            <a:solidFill>
              <a:srgbClr val="E4F1FB"/>
            </a:solidFill>
            <a:prstDash val="solid"/>
          </a:ln>
        </p:spPr>
      </p:sp>
      <p:pic>
        <p:nvPicPr>
          <p:cNvPr id="8" name="Image 0" descr="/home/claude/icons/terraform.png">    </p:cNvPr>
          <p:cNvPicPr>
            <a:picLocks noChangeAspect="1"/>
          </p:cNvPicPr>
          <p:nvPr/>
        </p:nvPicPr>
        <p:blipFill>
          <a:blip r:embed="rId1"/>
          <a:stretch>
            <a:fillRect/>
          </a:stretch>
        </p:blipFill>
        <p:spPr>
          <a:xfrm>
            <a:off x="850800" y="2423160"/>
            <a:ext cx="273503" cy="310896"/>
          </a:xfrm>
          <a:prstGeom prst="rect">
            <a:avLst/>
          </a:prstGeom>
        </p:spPr>
      </p:pic>
      <p:sp>
        <p:nvSpPr>
          <p:cNvPr id="9" name="Text 6"/>
          <p:cNvSpPr txBox="1"/>
          <p:nvPr/>
        </p:nvSpPr>
        <p:spPr>
          <a:xfrm>
            <a:off x="731520" y="2926080"/>
            <a:ext cx="2971800" cy="457200"/>
          </a:xfrm>
          <a:prstGeom prst="rect">
            <a:avLst/>
          </a:prstGeom>
          <a:noFill/>
          <a:ln/>
        </p:spPr>
        <p:txBody>
          <a:bodyPr wrap="square" lIns="0" tIns="0" rIns="0" bIns="0" rtlCol="0" anchor="t"/>
          <a:lstStyle/>
          <a:p>
            <a:pPr indent="0" marL="0">
              <a:buNone/>
            </a:pPr>
            <a:r>
              <a:rPr lang="en-US" sz="1400" b="1" dirty="0">
                <a:solidFill>
                  <a:srgbClr val="14344F"/>
                </a:solidFill>
              </a:rPr>
              <a:t>Standardised Terraform foundation</a:t>
            </a:r>
            <a:endParaRPr lang="en-US" sz="1400" dirty="0"/>
          </a:p>
        </p:txBody>
      </p:sp>
      <p:sp>
        <p:nvSpPr>
          <p:cNvPr id="10" name="Text 7"/>
          <p:cNvSpPr txBox="1"/>
          <p:nvPr/>
        </p:nvSpPr>
        <p:spPr>
          <a:xfrm>
            <a:off x="731520" y="3383280"/>
            <a:ext cx="2971800" cy="411480"/>
          </a:xfrm>
          <a:prstGeom prst="rect">
            <a:avLst/>
          </a:prstGeom>
          <a:noFill/>
          <a:ln/>
        </p:spPr>
        <p:txBody>
          <a:bodyPr wrap="square" lIns="0" tIns="0" rIns="0" bIns="0" rtlCol="0" anchor="t"/>
          <a:lstStyle/>
          <a:p>
            <a:pPr indent="0" marL="0">
              <a:buNone/>
            </a:pPr>
            <a:r>
              <a:rPr lang="en-US" sz="1150" dirty="0">
                <a:solidFill>
                  <a:srgbClr val="5B6B79"/>
                </a:solidFill>
              </a:rPr>
              <a:t>One reusable infrastructure-as-code baseline for every service.</a:t>
            </a:r>
            <a:endParaRPr lang="en-US" sz="1150" dirty="0"/>
          </a:p>
        </p:txBody>
      </p:sp>
      <p:sp>
        <p:nvSpPr>
          <p:cNvPr id="11" name="Shape 8"/>
          <p:cNvSpPr/>
          <p:nvPr/>
        </p:nvSpPr>
        <p:spPr>
          <a:xfrm>
            <a:off x="4320540" y="2103120"/>
            <a:ext cx="3520440" cy="1828800"/>
          </a:xfrm>
          <a:prstGeom prst="roundRect">
            <a:avLst>
              <a:gd name="adj" fmla="val 5000"/>
            </a:avLst>
          </a:prstGeom>
          <a:solidFill>
            <a:srgbClr val="F1F7FD"/>
          </a:solidFill>
          <a:ln w="12700">
            <a:solidFill>
              <a:srgbClr val="E4F1FB"/>
            </a:solidFill>
            <a:prstDash val="solid"/>
          </a:ln>
        </p:spPr>
      </p:sp>
      <p:sp>
        <p:nvSpPr>
          <p:cNvPr id="12" name="Shape 9"/>
          <p:cNvSpPr/>
          <p:nvPr/>
        </p:nvSpPr>
        <p:spPr>
          <a:xfrm>
            <a:off x="4594860" y="2322576"/>
            <a:ext cx="512064" cy="512064"/>
          </a:xfrm>
          <a:prstGeom prst="roundRect">
            <a:avLst>
              <a:gd name="adj" fmla="val 17857"/>
            </a:avLst>
          </a:prstGeom>
          <a:solidFill>
            <a:srgbClr val="FFFFFF"/>
          </a:solidFill>
          <a:ln w="12700">
            <a:solidFill>
              <a:srgbClr val="E4F1FB"/>
            </a:solidFill>
            <a:prstDash val="solid"/>
          </a:ln>
        </p:spPr>
      </p:sp>
      <p:pic>
        <p:nvPicPr>
          <p:cNvPr id="13" name="Image 1" descr="/home/claude/icons/googlecloud.png">    </p:cNvPr>
          <p:cNvPicPr>
            <a:picLocks noChangeAspect="1"/>
          </p:cNvPicPr>
          <p:nvPr/>
        </p:nvPicPr>
        <p:blipFill>
          <a:blip r:embed="rId2"/>
          <a:stretch>
            <a:fillRect/>
          </a:stretch>
        </p:blipFill>
        <p:spPr>
          <a:xfrm>
            <a:off x="4657714" y="2423160"/>
            <a:ext cx="386356" cy="310896"/>
          </a:xfrm>
          <a:prstGeom prst="rect">
            <a:avLst/>
          </a:prstGeom>
        </p:spPr>
      </p:pic>
      <p:sp>
        <p:nvSpPr>
          <p:cNvPr id="14" name="Text 10"/>
          <p:cNvSpPr txBox="1"/>
          <p:nvPr/>
        </p:nvSpPr>
        <p:spPr>
          <a:xfrm>
            <a:off x="4594860" y="2926080"/>
            <a:ext cx="2971800" cy="457200"/>
          </a:xfrm>
          <a:prstGeom prst="rect">
            <a:avLst/>
          </a:prstGeom>
          <a:noFill/>
          <a:ln/>
        </p:spPr>
        <p:txBody>
          <a:bodyPr wrap="square" lIns="0" tIns="0" rIns="0" bIns="0" rtlCol="0" anchor="t"/>
          <a:lstStyle/>
          <a:p>
            <a:pPr indent="0" marL="0">
              <a:buNone/>
            </a:pPr>
            <a:r>
              <a:rPr lang="en-US" sz="1400" b="1" dirty="0">
                <a:solidFill>
                  <a:srgbClr val="14344F"/>
                </a:solidFill>
              </a:rPr>
              <a:t>EKM encryption everywhere</a:t>
            </a:r>
            <a:endParaRPr lang="en-US" sz="1400" dirty="0"/>
          </a:p>
        </p:txBody>
      </p:sp>
      <p:sp>
        <p:nvSpPr>
          <p:cNvPr id="15" name="Text 11"/>
          <p:cNvSpPr txBox="1"/>
          <p:nvPr/>
        </p:nvSpPr>
        <p:spPr>
          <a:xfrm>
            <a:off x="4594860" y="3383280"/>
            <a:ext cx="2971800" cy="411480"/>
          </a:xfrm>
          <a:prstGeom prst="rect">
            <a:avLst/>
          </a:prstGeom>
          <a:noFill/>
          <a:ln/>
        </p:spPr>
        <p:txBody>
          <a:bodyPr wrap="square" lIns="0" tIns="0" rIns="0" bIns="0" rtlCol="0" anchor="t"/>
          <a:lstStyle/>
          <a:p>
            <a:pPr indent="0" marL="0">
              <a:buNone/>
            </a:pPr>
            <a:r>
              <a:rPr lang="en-US" sz="1150" dirty="0">
                <a:solidFill>
                  <a:srgbClr val="5B6B79"/>
                </a:solidFill>
              </a:rPr>
              <a:t>Externally-held keys (Cloud EKM) across BigQuery, GCS and Composer.</a:t>
            </a:r>
            <a:endParaRPr lang="en-US" sz="1150" dirty="0"/>
          </a:p>
        </p:txBody>
      </p:sp>
      <p:sp>
        <p:nvSpPr>
          <p:cNvPr id="16" name="Shape 12"/>
          <p:cNvSpPr/>
          <p:nvPr/>
        </p:nvSpPr>
        <p:spPr>
          <a:xfrm>
            <a:off x="8183880" y="2103120"/>
            <a:ext cx="3520440" cy="1828800"/>
          </a:xfrm>
          <a:prstGeom prst="roundRect">
            <a:avLst>
              <a:gd name="adj" fmla="val 5000"/>
            </a:avLst>
          </a:prstGeom>
          <a:solidFill>
            <a:srgbClr val="F1F7FD"/>
          </a:solidFill>
          <a:ln w="12700">
            <a:solidFill>
              <a:srgbClr val="E4F1FB"/>
            </a:solidFill>
            <a:prstDash val="solid"/>
          </a:ln>
        </p:spPr>
      </p:sp>
      <p:sp>
        <p:nvSpPr>
          <p:cNvPr id="17" name="Shape 13"/>
          <p:cNvSpPr/>
          <p:nvPr/>
        </p:nvSpPr>
        <p:spPr>
          <a:xfrm>
            <a:off x="8458200" y="2322576"/>
            <a:ext cx="512064" cy="512064"/>
          </a:xfrm>
          <a:prstGeom prst="roundRect">
            <a:avLst>
              <a:gd name="adj" fmla="val 17857"/>
            </a:avLst>
          </a:prstGeom>
          <a:solidFill>
            <a:srgbClr val="FFFFFF"/>
          </a:solidFill>
          <a:ln w="12700">
            <a:solidFill>
              <a:srgbClr val="E4F1FB"/>
            </a:solidFill>
            <a:prstDash val="solid"/>
          </a:ln>
        </p:spPr>
      </p:sp>
      <p:pic>
        <p:nvPicPr>
          <p:cNvPr id="18" name="Image 2" descr="/home/claude/icons/github.png">    </p:cNvPr>
          <p:cNvPicPr>
            <a:picLocks noChangeAspect="1"/>
          </p:cNvPicPr>
          <p:nvPr/>
        </p:nvPicPr>
        <p:blipFill>
          <a:blip r:embed="rId3"/>
          <a:stretch>
            <a:fillRect/>
          </a:stretch>
        </p:blipFill>
        <p:spPr>
          <a:xfrm>
            <a:off x="8555053" y="2423160"/>
            <a:ext cx="318358" cy="310896"/>
          </a:xfrm>
          <a:prstGeom prst="rect">
            <a:avLst/>
          </a:prstGeom>
        </p:spPr>
      </p:pic>
      <p:sp>
        <p:nvSpPr>
          <p:cNvPr id="19" name="Text 14"/>
          <p:cNvSpPr txBox="1"/>
          <p:nvPr/>
        </p:nvSpPr>
        <p:spPr>
          <a:xfrm>
            <a:off x="8458200" y="2926080"/>
            <a:ext cx="2971800" cy="457200"/>
          </a:xfrm>
          <a:prstGeom prst="rect">
            <a:avLst/>
          </a:prstGeom>
          <a:noFill/>
          <a:ln/>
        </p:spPr>
        <p:txBody>
          <a:bodyPr wrap="square" lIns="0" tIns="0" rIns="0" bIns="0" rtlCol="0" anchor="t"/>
          <a:lstStyle/>
          <a:p>
            <a:pPr indent="0" marL="0">
              <a:buNone/>
            </a:pPr>
            <a:r>
              <a:rPr lang="en-US" sz="1400" b="1" dirty="0">
                <a:solidFill>
                  <a:srgbClr val="14344F"/>
                </a:solidFill>
              </a:rPr>
              <a:t>Automated CI/CD delivery</a:t>
            </a:r>
            <a:endParaRPr lang="en-US" sz="1400" dirty="0"/>
          </a:p>
        </p:txBody>
      </p:sp>
      <p:sp>
        <p:nvSpPr>
          <p:cNvPr id="20" name="Text 15"/>
          <p:cNvSpPr txBox="1"/>
          <p:nvPr/>
        </p:nvSpPr>
        <p:spPr>
          <a:xfrm>
            <a:off x="8458200" y="3383280"/>
            <a:ext cx="2971800" cy="411480"/>
          </a:xfrm>
          <a:prstGeom prst="rect">
            <a:avLst/>
          </a:prstGeom>
          <a:noFill/>
          <a:ln/>
        </p:spPr>
        <p:txBody>
          <a:bodyPr wrap="square" lIns="0" tIns="0" rIns="0" bIns="0" rtlCol="0" anchor="t"/>
          <a:lstStyle/>
          <a:p>
            <a:pPr indent="0" marL="0">
              <a:buNone/>
            </a:pPr>
            <a:r>
              <a:rPr lang="en-US" sz="1150" dirty="0">
                <a:solidFill>
                  <a:srgbClr val="5B6B79"/>
                </a:solidFill>
              </a:rPr>
              <a:t>Pull request to production via GitHub Actions, JFrog and Terraform — no console.</a:t>
            </a:r>
            <a:endParaRPr lang="en-US" sz="1150" dirty="0"/>
          </a:p>
        </p:txBody>
      </p:sp>
      <p:sp>
        <p:nvSpPr>
          <p:cNvPr id="21" name="Shape 16"/>
          <p:cNvSpPr/>
          <p:nvPr/>
        </p:nvSpPr>
        <p:spPr>
          <a:xfrm>
            <a:off x="457200" y="4206240"/>
            <a:ext cx="3520440" cy="1828800"/>
          </a:xfrm>
          <a:prstGeom prst="roundRect">
            <a:avLst>
              <a:gd name="adj" fmla="val 5000"/>
            </a:avLst>
          </a:prstGeom>
          <a:solidFill>
            <a:srgbClr val="F1F7FD"/>
          </a:solidFill>
          <a:ln w="12700">
            <a:solidFill>
              <a:srgbClr val="E4F1FB"/>
            </a:solidFill>
            <a:prstDash val="solid"/>
          </a:ln>
        </p:spPr>
      </p:sp>
      <p:sp>
        <p:nvSpPr>
          <p:cNvPr id="22" name="Shape 17"/>
          <p:cNvSpPr/>
          <p:nvPr/>
        </p:nvSpPr>
        <p:spPr>
          <a:xfrm>
            <a:off x="731520" y="4425696"/>
            <a:ext cx="512064" cy="512064"/>
          </a:xfrm>
          <a:prstGeom prst="roundRect">
            <a:avLst>
              <a:gd name="adj" fmla="val 17857"/>
            </a:avLst>
          </a:prstGeom>
          <a:solidFill>
            <a:srgbClr val="FFFFFF"/>
          </a:solidFill>
          <a:ln w="12700">
            <a:solidFill>
              <a:srgbClr val="E4F1FB"/>
            </a:solidFill>
            <a:prstDash val="solid"/>
          </a:ln>
        </p:spPr>
      </p:sp>
      <p:pic>
        <p:nvPicPr>
          <p:cNvPr id="23" name="Image 3" descr="/home/claude/icons/googlecloud.png">    </p:cNvPr>
          <p:cNvPicPr>
            <a:picLocks noChangeAspect="1"/>
          </p:cNvPicPr>
          <p:nvPr/>
        </p:nvPicPr>
        <p:blipFill>
          <a:blip r:embed="rId4"/>
          <a:stretch>
            <a:fillRect/>
          </a:stretch>
        </p:blipFill>
        <p:spPr>
          <a:xfrm>
            <a:off x="794374" y="4526280"/>
            <a:ext cx="386356" cy="310896"/>
          </a:xfrm>
          <a:prstGeom prst="rect">
            <a:avLst/>
          </a:prstGeom>
        </p:spPr>
      </p:pic>
      <p:sp>
        <p:nvSpPr>
          <p:cNvPr id="24" name="Text 18"/>
          <p:cNvSpPr txBox="1"/>
          <p:nvPr/>
        </p:nvSpPr>
        <p:spPr>
          <a:xfrm>
            <a:off x="731520" y="5029200"/>
            <a:ext cx="2971800" cy="457200"/>
          </a:xfrm>
          <a:prstGeom prst="rect">
            <a:avLst/>
          </a:prstGeom>
          <a:noFill/>
          <a:ln/>
        </p:spPr>
        <p:txBody>
          <a:bodyPr wrap="square" lIns="0" tIns="0" rIns="0" bIns="0" rtlCol="0" anchor="t"/>
          <a:lstStyle/>
          <a:p>
            <a:pPr indent="0" marL="0">
              <a:buNone/>
            </a:pPr>
            <a:r>
              <a:rPr lang="en-US" sz="1400" b="1" dirty="0">
                <a:solidFill>
                  <a:srgbClr val="14344F"/>
                </a:solidFill>
              </a:rPr>
              <a:t>Parallel ingestion with fail-safe</a:t>
            </a:r>
            <a:endParaRPr lang="en-US" sz="1400" dirty="0"/>
          </a:p>
        </p:txBody>
      </p:sp>
      <p:sp>
        <p:nvSpPr>
          <p:cNvPr id="25" name="Text 19"/>
          <p:cNvSpPr txBox="1"/>
          <p:nvPr/>
        </p:nvSpPr>
        <p:spPr>
          <a:xfrm>
            <a:off x="731520" y="5486400"/>
            <a:ext cx="2971800" cy="411480"/>
          </a:xfrm>
          <a:prstGeom prst="rect">
            <a:avLst/>
          </a:prstGeom>
          <a:noFill/>
          <a:ln/>
        </p:spPr>
        <p:txBody>
          <a:bodyPr wrap="square" lIns="0" tIns="0" rIns="0" bIns="0" rtlCol="0" anchor="t"/>
          <a:lstStyle/>
          <a:p>
            <a:pPr indent="0" marL="0">
              <a:buNone/>
            </a:pPr>
            <a:r>
              <a:rPr lang="en-US" sz="1150" dirty="0">
                <a:solidFill>
                  <a:srgbClr val="5B6B79"/>
                </a:solidFill>
              </a:rPr>
              <a:t>Concurrent source-to-raw loads; a single failure halts the run.</a:t>
            </a:r>
            <a:endParaRPr lang="en-US" sz="1150" dirty="0"/>
          </a:p>
        </p:txBody>
      </p:sp>
      <p:sp>
        <p:nvSpPr>
          <p:cNvPr id="26" name="Shape 20"/>
          <p:cNvSpPr/>
          <p:nvPr/>
        </p:nvSpPr>
        <p:spPr>
          <a:xfrm>
            <a:off x="4320540" y="4206240"/>
            <a:ext cx="3520440" cy="1828800"/>
          </a:xfrm>
          <a:prstGeom prst="roundRect">
            <a:avLst>
              <a:gd name="adj" fmla="val 5000"/>
            </a:avLst>
          </a:prstGeom>
          <a:solidFill>
            <a:srgbClr val="F1F7FD"/>
          </a:solidFill>
          <a:ln w="12700">
            <a:solidFill>
              <a:srgbClr val="E4F1FB"/>
            </a:solidFill>
            <a:prstDash val="solid"/>
          </a:ln>
        </p:spPr>
      </p:sp>
      <p:sp>
        <p:nvSpPr>
          <p:cNvPr id="27" name="Shape 21"/>
          <p:cNvSpPr/>
          <p:nvPr/>
        </p:nvSpPr>
        <p:spPr>
          <a:xfrm>
            <a:off x="4594860" y="4425696"/>
            <a:ext cx="512064" cy="512064"/>
          </a:xfrm>
          <a:prstGeom prst="roundRect">
            <a:avLst>
              <a:gd name="adj" fmla="val 17857"/>
            </a:avLst>
          </a:prstGeom>
          <a:solidFill>
            <a:srgbClr val="FFFFFF"/>
          </a:solidFill>
          <a:ln w="12700">
            <a:solidFill>
              <a:srgbClr val="E4F1FB"/>
            </a:solidFill>
            <a:prstDash val="solid"/>
          </a:ln>
        </p:spPr>
      </p:sp>
      <p:pic>
        <p:nvPicPr>
          <p:cNvPr id="28" name="Image 4" descr="/home/claude/icons/dbt.png">    </p:cNvPr>
          <p:cNvPicPr>
            <a:picLocks noChangeAspect="1"/>
          </p:cNvPicPr>
          <p:nvPr/>
        </p:nvPicPr>
        <p:blipFill>
          <a:blip r:embed="rId5"/>
          <a:stretch>
            <a:fillRect/>
          </a:stretch>
        </p:blipFill>
        <p:spPr>
          <a:xfrm>
            <a:off x="4695444" y="4526280"/>
            <a:ext cx="310896" cy="310896"/>
          </a:xfrm>
          <a:prstGeom prst="rect">
            <a:avLst/>
          </a:prstGeom>
        </p:spPr>
      </p:pic>
      <p:sp>
        <p:nvSpPr>
          <p:cNvPr id="29" name="Text 22"/>
          <p:cNvSpPr txBox="1"/>
          <p:nvPr/>
        </p:nvSpPr>
        <p:spPr>
          <a:xfrm>
            <a:off x="4594860" y="5029200"/>
            <a:ext cx="2971800" cy="457200"/>
          </a:xfrm>
          <a:prstGeom prst="rect">
            <a:avLst/>
          </a:prstGeom>
          <a:noFill/>
          <a:ln/>
        </p:spPr>
        <p:txBody>
          <a:bodyPr wrap="square" lIns="0" tIns="0" rIns="0" bIns="0" rtlCol="0" anchor="t"/>
          <a:lstStyle/>
          <a:p>
            <a:pPr indent="0" marL="0">
              <a:buNone/>
            </a:pPr>
            <a:r>
              <a:rPr lang="en-US" sz="1400" b="1" dirty="0">
                <a:solidFill>
                  <a:srgbClr val="14344F"/>
                </a:solidFill>
              </a:rPr>
              <a:t>Governed three-zone model</a:t>
            </a:r>
            <a:endParaRPr lang="en-US" sz="1400" dirty="0"/>
          </a:p>
        </p:txBody>
      </p:sp>
      <p:sp>
        <p:nvSpPr>
          <p:cNvPr id="30" name="Text 23"/>
          <p:cNvSpPr txBox="1"/>
          <p:nvPr/>
        </p:nvSpPr>
        <p:spPr>
          <a:xfrm>
            <a:off x="4594860" y="5486400"/>
            <a:ext cx="2971800" cy="411480"/>
          </a:xfrm>
          <a:prstGeom prst="rect">
            <a:avLst/>
          </a:prstGeom>
          <a:noFill/>
          <a:ln/>
        </p:spPr>
        <p:txBody>
          <a:bodyPr wrap="square" lIns="0" tIns="0" rIns="0" bIns="0" rtlCol="0" anchor="t"/>
          <a:lstStyle/>
          <a:p>
            <a:pPr indent="0" marL="0">
              <a:buNone/>
            </a:pPr>
            <a:r>
              <a:rPr lang="en-US" sz="1150" dirty="0">
                <a:solidFill>
                  <a:srgbClr val="5B6B79"/>
                </a:solidFill>
              </a:rPr>
              <a:t>raw → staging → curated, with full dbt lineage.</a:t>
            </a:r>
            <a:endParaRPr lang="en-US" sz="1150" dirty="0"/>
          </a:p>
        </p:txBody>
      </p:sp>
      <p:sp>
        <p:nvSpPr>
          <p:cNvPr id="31" name="Shape 24"/>
          <p:cNvSpPr/>
          <p:nvPr/>
        </p:nvSpPr>
        <p:spPr>
          <a:xfrm>
            <a:off x="8183880" y="4206240"/>
            <a:ext cx="3520440" cy="1828800"/>
          </a:xfrm>
          <a:prstGeom prst="roundRect">
            <a:avLst>
              <a:gd name="adj" fmla="val 5000"/>
            </a:avLst>
          </a:prstGeom>
          <a:solidFill>
            <a:srgbClr val="F1F7FD"/>
          </a:solidFill>
          <a:ln w="12700">
            <a:solidFill>
              <a:srgbClr val="E4F1FB"/>
            </a:solidFill>
            <a:prstDash val="solid"/>
          </a:ln>
        </p:spPr>
      </p:sp>
      <p:sp>
        <p:nvSpPr>
          <p:cNvPr id="32" name="Shape 25"/>
          <p:cNvSpPr/>
          <p:nvPr/>
        </p:nvSpPr>
        <p:spPr>
          <a:xfrm>
            <a:off x="8458200" y="4425696"/>
            <a:ext cx="512064" cy="512064"/>
          </a:xfrm>
          <a:prstGeom prst="roundRect">
            <a:avLst>
              <a:gd name="adj" fmla="val 17857"/>
            </a:avLst>
          </a:prstGeom>
          <a:solidFill>
            <a:srgbClr val="FFFFFF"/>
          </a:solidFill>
          <a:ln w="12700">
            <a:solidFill>
              <a:srgbClr val="E4F1FB"/>
            </a:solidFill>
            <a:prstDash val="solid"/>
          </a:ln>
        </p:spPr>
      </p:sp>
      <p:pic>
        <p:nvPicPr>
          <p:cNvPr id="33" name="Image 5" descr="/home/claude/icons/airflow.png">    </p:cNvPr>
          <p:cNvPicPr>
            <a:picLocks noChangeAspect="1"/>
          </p:cNvPicPr>
          <p:nvPr/>
        </p:nvPicPr>
        <p:blipFill>
          <a:blip r:embed="rId6"/>
          <a:stretch>
            <a:fillRect/>
          </a:stretch>
        </p:blipFill>
        <p:spPr>
          <a:xfrm>
            <a:off x="8558784" y="4526280"/>
            <a:ext cx="310896" cy="310896"/>
          </a:xfrm>
          <a:prstGeom prst="rect">
            <a:avLst/>
          </a:prstGeom>
        </p:spPr>
      </p:pic>
      <p:sp>
        <p:nvSpPr>
          <p:cNvPr id="34" name="Text 26"/>
          <p:cNvSpPr txBox="1"/>
          <p:nvPr/>
        </p:nvSpPr>
        <p:spPr>
          <a:xfrm>
            <a:off x="8458200" y="5029200"/>
            <a:ext cx="2971800" cy="457200"/>
          </a:xfrm>
          <a:prstGeom prst="rect">
            <a:avLst/>
          </a:prstGeom>
          <a:noFill/>
          <a:ln/>
        </p:spPr>
        <p:txBody>
          <a:bodyPr wrap="square" lIns="0" tIns="0" rIns="0" bIns="0" rtlCol="0" anchor="t"/>
          <a:lstStyle/>
          <a:p>
            <a:pPr indent="0" marL="0">
              <a:buNone/>
            </a:pPr>
            <a:r>
              <a:rPr lang="en-US" sz="1400" b="1" dirty="0">
                <a:solidFill>
                  <a:srgbClr val="14344F"/>
                </a:solidFill>
              </a:rPr>
              <a:t>Operations &amp; observability</a:t>
            </a:r>
            <a:endParaRPr lang="en-US" sz="1400" dirty="0"/>
          </a:p>
        </p:txBody>
      </p:sp>
      <p:sp>
        <p:nvSpPr>
          <p:cNvPr id="35" name="Text 27"/>
          <p:cNvSpPr txBox="1"/>
          <p:nvPr/>
        </p:nvSpPr>
        <p:spPr>
          <a:xfrm>
            <a:off x="8458200" y="5486400"/>
            <a:ext cx="2971800" cy="411480"/>
          </a:xfrm>
          <a:prstGeom prst="rect">
            <a:avLst/>
          </a:prstGeom>
          <a:noFill/>
          <a:ln/>
        </p:spPr>
        <p:txBody>
          <a:bodyPr wrap="square" lIns="0" tIns="0" rIns="0" bIns="0" rtlCol="0" anchor="t"/>
          <a:lstStyle/>
          <a:p>
            <a:pPr indent="0" marL="0">
              <a:buNone/>
            </a:pPr>
            <a:r>
              <a:rPr lang="en-US" sz="1150" dirty="0">
                <a:solidFill>
                  <a:srgbClr val="5B6B79"/>
                </a:solidFill>
              </a:rPr>
              <a:t>Centralised orchestration, logging, monitoring and alerting.</a:t>
            </a:r>
            <a:endParaRPr lang="en-US" sz="115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9184"/>
            <a:ext cx="11247120" cy="548640"/>
          </a:xfrm>
          <a:prstGeom prst="rect">
            <a:avLst/>
          </a:prstGeom>
          <a:noFill/>
          <a:ln/>
        </p:spPr>
        <p:txBody>
          <a:bodyPr wrap="square" lIns="0" tIns="0" rIns="0" bIns="0" rtlCol="0" anchor="ctr"/>
          <a:lstStyle/>
          <a:p>
            <a:pPr indent="0" marL="0">
              <a:buNone/>
            </a:pPr>
            <a:r>
              <a:rPr lang="en-US" sz="3000" b="1" dirty="0">
                <a:solidFill>
                  <a:srgbClr val="14344F"/>
                </a:solidFill>
              </a:rPr>
              <a:t>What to expect today</a:t>
            </a:r>
            <a:endParaRPr lang="en-US" sz="3000" dirty="0"/>
          </a:p>
        </p:txBody>
      </p:sp>
      <p:sp>
        <p:nvSpPr>
          <p:cNvPr id="3" name="Text 1"/>
          <p:cNvSpPr txBox="1"/>
          <p:nvPr/>
        </p:nvSpPr>
        <p:spPr>
          <a:xfrm>
            <a:off x="475488" y="896112"/>
            <a:ext cx="11247120" cy="320040"/>
          </a:xfrm>
          <a:prstGeom prst="rect">
            <a:avLst/>
          </a:prstGeom>
          <a:noFill/>
          <a:ln/>
        </p:spPr>
        <p:txBody>
          <a:bodyPr wrap="square" lIns="0" tIns="0" rIns="0" bIns="0" rtlCol="0" anchor="ctr"/>
          <a:lstStyle/>
          <a:p>
            <a:pPr indent="0" marL="0">
              <a:buNone/>
            </a:pPr>
            <a:r>
              <a:rPr lang="en-US" sz="1350" dirty="0">
                <a:solidFill>
                  <a:srgbClr val="5B6B79"/>
                </a:solidFill>
              </a:rPr>
              <a:t>What's running live in this demo — and what's in active development.</a:t>
            </a:r>
            <a:endParaRPr lang="en-US" sz="1350" dirty="0"/>
          </a:p>
        </p:txBody>
      </p:sp>
      <p:sp>
        <p:nvSpPr>
          <p:cNvPr id="4" name="Shape 2"/>
          <p:cNvSpPr/>
          <p:nvPr/>
        </p:nvSpPr>
        <p:spPr>
          <a:xfrm>
            <a:off x="457200" y="1325880"/>
            <a:ext cx="11247120" cy="868680"/>
          </a:xfrm>
          <a:prstGeom prst="roundRect">
            <a:avLst>
              <a:gd name="adj" fmla="val 8421"/>
            </a:avLst>
          </a:prstGeom>
          <a:solidFill>
            <a:srgbClr val="E4F1FB"/>
          </a:solidFill>
          <a:ln w="15875">
            <a:solidFill>
              <a:srgbClr val="3291D6"/>
            </a:solidFill>
            <a:prstDash val="solid"/>
          </a:ln>
        </p:spPr>
      </p:sp>
      <p:sp>
        <p:nvSpPr>
          <p:cNvPr id="5" name="Text 3"/>
          <p:cNvSpPr txBox="1"/>
          <p:nvPr/>
        </p:nvSpPr>
        <p:spPr>
          <a:xfrm>
            <a:off x="731520" y="1325880"/>
            <a:ext cx="10698480" cy="868680"/>
          </a:xfrm>
          <a:prstGeom prst="rect">
            <a:avLst/>
          </a:prstGeom>
          <a:noFill/>
          <a:ln/>
        </p:spPr>
        <p:txBody>
          <a:bodyPr wrap="square" lIns="0" tIns="0" rIns="0" bIns="0" rtlCol="0" anchor="ctr"/>
          <a:lstStyle/>
          <a:p>
            <a:pPr algn="l" indent="0" marL="0">
              <a:buNone/>
            </a:pPr>
            <a:r>
              <a:rPr lang="en-US" sz="1450" b="1" dirty="0">
                <a:solidFill>
                  <a:srgbClr val="0F4C7A"/>
                </a:solidFill>
              </a:rPr>
              <a:t>Live &amp; demoed today   </a:t>
            </a:r>
            <a:endParaRPr lang="en-US" sz="1450" dirty="0"/>
          </a:p>
          <a:p>
            <a:pPr algn="l" indent="0" marL="0">
              <a:buNone/>
            </a:pPr>
            <a:r>
              <a:rPr lang="en-US" sz="1200" dirty="0">
                <a:solidFill>
                  <a:srgbClr val="1C6EA8"/>
                </a:solidFill>
              </a:rPr>
              <a:t>CI/CD deploy  ·  parallel ingestion → raw  ·  dbt raw→staging→curated  ·  Composer orchestration  ·  logging, monitoring, alerting, lineage</a:t>
            </a:r>
            <a:endParaRPr lang="en-US" sz="1450" dirty="0"/>
          </a:p>
        </p:txBody>
      </p:sp>
      <p:sp>
        <p:nvSpPr>
          <p:cNvPr id="6" name="Text 4"/>
          <p:cNvSpPr txBox="1"/>
          <p:nvPr/>
        </p:nvSpPr>
        <p:spPr>
          <a:xfrm>
            <a:off x="475488" y="2395728"/>
            <a:ext cx="11247120" cy="320040"/>
          </a:xfrm>
          <a:prstGeom prst="rect">
            <a:avLst/>
          </a:prstGeom>
          <a:noFill/>
          <a:ln/>
        </p:spPr>
        <p:txBody>
          <a:bodyPr wrap="square" lIns="0" tIns="0" rIns="0" bIns="0" rtlCol="0" anchor="ctr"/>
          <a:lstStyle/>
          <a:p>
            <a:pPr indent="0" marL="0">
              <a:buNone/>
            </a:pPr>
            <a:r>
              <a:rPr lang="en-US" sz="1300" b="1" dirty="0">
                <a:solidFill>
                  <a:srgbClr val="7A5214"/>
                </a:solidFill>
              </a:rPr>
              <a:t>In continuation   —   in active development &amp; integration; described today, not part of the live demo</a:t>
            </a:r>
            <a:endParaRPr lang="en-US" sz="1300" dirty="0"/>
          </a:p>
        </p:txBody>
      </p:sp>
      <p:sp>
        <p:nvSpPr>
          <p:cNvPr id="7" name="Shape 5"/>
          <p:cNvSpPr/>
          <p:nvPr/>
        </p:nvSpPr>
        <p:spPr>
          <a:xfrm>
            <a:off x="457200" y="2834640"/>
            <a:ext cx="3520440" cy="1554480"/>
          </a:xfrm>
          <a:prstGeom prst="roundRect">
            <a:avLst>
              <a:gd name="adj" fmla="val 5882"/>
            </a:avLst>
          </a:prstGeom>
          <a:solidFill>
            <a:srgbClr val="FBF1DF"/>
          </a:solidFill>
          <a:ln w="12700">
            <a:solidFill>
              <a:srgbClr val="C6881F"/>
            </a:solidFill>
            <a:prstDash val="solid"/>
          </a:ln>
        </p:spPr>
      </p:sp>
      <p:sp>
        <p:nvSpPr>
          <p:cNvPr id="8" name="Shape 6"/>
          <p:cNvSpPr/>
          <p:nvPr/>
        </p:nvSpPr>
        <p:spPr>
          <a:xfrm>
            <a:off x="731520" y="3072384"/>
            <a:ext cx="274320" cy="274320"/>
          </a:xfrm>
          <a:prstGeom prst="roundRect">
            <a:avLst>
              <a:gd name="adj" fmla="val 20000"/>
            </a:avLst>
          </a:prstGeom>
          <a:solidFill>
            <a:srgbClr val="D59A2E"/>
          </a:solidFill>
          <a:ln w="12700">
            <a:solidFill>
              <a:srgbClr val="D59A2E"/>
            </a:solidFill>
            <a:prstDash val="solid"/>
          </a:ln>
        </p:spPr>
      </p:sp>
      <p:sp>
        <p:nvSpPr>
          <p:cNvPr id="9" name="Text 7"/>
          <p:cNvSpPr txBox="1"/>
          <p:nvPr/>
        </p:nvSpPr>
        <p:spPr>
          <a:xfrm>
            <a:off x="731520" y="3419856"/>
            <a:ext cx="2971800" cy="457200"/>
          </a:xfrm>
          <a:prstGeom prst="rect">
            <a:avLst/>
          </a:prstGeom>
          <a:noFill/>
          <a:ln/>
        </p:spPr>
        <p:txBody>
          <a:bodyPr wrap="square" lIns="0" tIns="0" rIns="0" bIns="0" rtlCol="0" anchor="t"/>
          <a:lstStyle/>
          <a:p>
            <a:pPr indent="0" marL="0">
              <a:buNone/>
            </a:pPr>
            <a:r>
              <a:rPr lang="en-US" sz="1400" b="1" dirty="0">
                <a:solidFill>
                  <a:srgbClr val="14344F"/>
                </a:solidFill>
              </a:rPr>
              <a:t>Control-plane DAGs</a:t>
            </a:r>
            <a:endParaRPr lang="en-US" sz="1400" dirty="0"/>
          </a:p>
        </p:txBody>
      </p:sp>
      <p:sp>
        <p:nvSpPr>
          <p:cNvPr id="10" name="Text 8"/>
          <p:cNvSpPr txBox="1"/>
          <p:nvPr/>
        </p:nvSpPr>
        <p:spPr>
          <a:xfrm>
            <a:off x="731520" y="3858768"/>
            <a:ext cx="2971800" cy="411480"/>
          </a:xfrm>
          <a:prstGeom prst="rect">
            <a:avLst/>
          </a:prstGeom>
          <a:noFill/>
          <a:ln/>
        </p:spPr>
        <p:txBody>
          <a:bodyPr wrap="square" lIns="0" tIns="0" rIns="0" bIns="0" rtlCol="0" anchor="t"/>
          <a:lstStyle/>
          <a:p>
            <a:pPr indent="0" marL="0">
              <a:buNone/>
            </a:pPr>
            <a:r>
              <a:rPr lang="en-US" sz="1100" dirty="0">
                <a:solidFill>
                  <a:srgbClr val="5B6B79"/>
                </a:solidFill>
              </a:rPr>
              <a:t>Standardised, reusable pipeline control pattern across sources.</a:t>
            </a:r>
            <a:endParaRPr lang="en-US" sz="1100" dirty="0"/>
          </a:p>
        </p:txBody>
      </p:sp>
      <p:sp>
        <p:nvSpPr>
          <p:cNvPr id="11" name="Shape 9"/>
          <p:cNvSpPr/>
          <p:nvPr/>
        </p:nvSpPr>
        <p:spPr>
          <a:xfrm>
            <a:off x="4320540" y="2834640"/>
            <a:ext cx="3520440" cy="1554480"/>
          </a:xfrm>
          <a:prstGeom prst="roundRect">
            <a:avLst>
              <a:gd name="adj" fmla="val 5882"/>
            </a:avLst>
          </a:prstGeom>
          <a:solidFill>
            <a:srgbClr val="FBF1DF"/>
          </a:solidFill>
          <a:ln w="12700">
            <a:solidFill>
              <a:srgbClr val="C6881F"/>
            </a:solidFill>
            <a:prstDash val="solid"/>
          </a:ln>
        </p:spPr>
      </p:sp>
      <p:sp>
        <p:nvSpPr>
          <p:cNvPr id="12" name="Shape 10"/>
          <p:cNvSpPr/>
          <p:nvPr/>
        </p:nvSpPr>
        <p:spPr>
          <a:xfrm>
            <a:off x="4594860" y="3072384"/>
            <a:ext cx="274320" cy="274320"/>
          </a:xfrm>
          <a:prstGeom prst="roundRect">
            <a:avLst>
              <a:gd name="adj" fmla="val 20000"/>
            </a:avLst>
          </a:prstGeom>
          <a:solidFill>
            <a:srgbClr val="D59A2E"/>
          </a:solidFill>
          <a:ln w="12700">
            <a:solidFill>
              <a:srgbClr val="D59A2E"/>
            </a:solidFill>
            <a:prstDash val="solid"/>
          </a:ln>
        </p:spPr>
      </p:sp>
      <p:sp>
        <p:nvSpPr>
          <p:cNvPr id="13" name="Text 11"/>
          <p:cNvSpPr txBox="1"/>
          <p:nvPr/>
        </p:nvSpPr>
        <p:spPr>
          <a:xfrm>
            <a:off x="4594860" y="3419856"/>
            <a:ext cx="2971800" cy="457200"/>
          </a:xfrm>
          <a:prstGeom prst="rect">
            <a:avLst/>
          </a:prstGeom>
          <a:noFill/>
          <a:ln/>
        </p:spPr>
        <p:txBody>
          <a:bodyPr wrap="square" lIns="0" tIns="0" rIns="0" bIns="0" rtlCol="0" anchor="t"/>
          <a:lstStyle/>
          <a:p>
            <a:pPr indent="0" marL="0">
              <a:buNone/>
            </a:pPr>
            <a:r>
              <a:rPr lang="en-US" sz="1400" b="1" dirty="0">
                <a:solidFill>
                  <a:srgbClr val="14344F"/>
                </a:solidFill>
              </a:rPr>
              <a:t>Schema-drift detection</a:t>
            </a:r>
            <a:endParaRPr lang="en-US" sz="1400" dirty="0"/>
          </a:p>
        </p:txBody>
      </p:sp>
      <p:sp>
        <p:nvSpPr>
          <p:cNvPr id="14" name="Text 12"/>
          <p:cNvSpPr txBox="1"/>
          <p:nvPr/>
        </p:nvSpPr>
        <p:spPr>
          <a:xfrm>
            <a:off x="4594860" y="3858768"/>
            <a:ext cx="2971800" cy="411480"/>
          </a:xfrm>
          <a:prstGeom prst="rect">
            <a:avLst/>
          </a:prstGeom>
          <a:noFill/>
          <a:ln/>
        </p:spPr>
        <p:txBody>
          <a:bodyPr wrap="square" lIns="0" tIns="0" rIns="0" bIns="0" rtlCol="0" anchor="t"/>
          <a:lstStyle/>
          <a:p>
            <a:pPr indent="0" marL="0">
              <a:buNone/>
            </a:pPr>
            <a:r>
              <a:rPr lang="en-US" sz="1100" dirty="0">
                <a:solidFill>
                  <a:srgbClr val="5B6B79"/>
                </a:solidFill>
              </a:rPr>
              <a:t>Catch dropped or changed source columns before they break loads.</a:t>
            </a:r>
            <a:endParaRPr lang="en-US" sz="1100" dirty="0"/>
          </a:p>
        </p:txBody>
      </p:sp>
      <p:sp>
        <p:nvSpPr>
          <p:cNvPr id="15" name="Shape 13"/>
          <p:cNvSpPr/>
          <p:nvPr/>
        </p:nvSpPr>
        <p:spPr>
          <a:xfrm>
            <a:off x="8183880" y="2834640"/>
            <a:ext cx="3520440" cy="1554480"/>
          </a:xfrm>
          <a:prstGeom prst="roundRect">
            <a:avLst>
              <a:gd name="adj" fmla="val 5882"/>
            </a:avLst>
          </a:prstGeom>
          <a:solidFill>
            <a:srgbClr val="FBF1DF"/>
          </a:solidFill>
          <a:ln w="12700">
            <a:solidFill>
              <a:srgbClr val="C6881F"/>
            </a:solidFill>
            <a:prstDash val="solid"/>
          </a:ln>
        </p:spPr>
      </p:sp>
      <p:sp>
        <p:nvSpPr>
          <p:cNvPr id="16" name="Shape 14"/>
          <p:cNvSpPr/>
          <p:nvPr/>
        </p:nvSpPr>
        <p:spPr>
          <a:xfrm>
            <a:off x="8458200" y="3072384"/>
            <a:ext cx="274320" cy="274320"/>
          </a:xfrm>
          <a:prstGeom prst="roundRect">
            <a:avLst>
              <a:gd name="adj" fmla="val 20000"/>
            </a:avLst>
          </a:prstGeom>
          <a:solidFill>
            <a:srgbClr val="D59A2E"/>
          </a:solidFill>
          <a:ln w="12700">
            <a:solidFill>
              <a:srgbClr val="D59A2E"/>
            </a:solidFill>
            <a:prstDash val="solid"/>
          </a:ln>
        </p:spPr>
      </p:sp>
      <p:sp>
        <p:nvSpPr>
          <p:cNvPr id="17" name="Text 15"/>
          <p:cNvSpPr txBox="1"/>
          <p:nvPr/>
        </p:nvSpPr>
        <p:spPr>
          <a:xfrm>
            <a:off x="8458200" y="3419856"/>
            <a:ext cx="2971800" cy="457200"/>
          </a:xfrm>
          <a:prstGeom prst="rect">
            <a:avLst/>
          </a:prstGeom>
          <a:noFill/>
          <a:ln/>
        </p:spPr>
        <p:txBody>
          <a:bodyPr wrap="square" lIns="0" tIns="0" rIns="0" bIns="0" rtlCol="0" anchor="t"/>
          <a:lstStyle/>
          <a:p>
            <a:pPr indent="0" marL="0">
              <a:buNone/>
            </a:pPr>
            <a:r>
              <a:rPr lang="en-US" sz="1400" b="1" dirty="0">
                <a:solidFill>
                  <a:srgbClr val="14344F"/>
                </a:solidFill>
              </a:rPr>
              <a:t>dbt versioning</a:t>
            </a:r>
            <a:endParaRPr lang="en-US" sz="1400" dirty="0"/>
          </a:p>
        </p:txBody>
      </p:sp>
      <p:sp>
        <p:nvSpPr>
          <p:cNvPr id="18" name="Text 16"/>
          <p:cNvSpPr txBox="1"/>
          <p:nvPr/>
        </p:nvSpPr>
        <p:spPr>
          <a:xfrm>
            <a:off x="8458200" y="3858768"/>
            <a:ext cx="2971800" cy="411480"/>
          </a:xfrm>
          <a:prstGeom prst="rect">
            <a:avLst/>
          </a:prstGeom>
          <a:noFill/>
          <a:ln/>
        </p:spPr>
        <p:txBody>
          <a:bodyPr wrap="square" lIns="0" tIns="0" rIns="0" bIns="0" rtlCol="0" anchor="t"/>
          <a:lstStyle/>
          <a:p>
            <a:pPr indent="0" marL="0">
              <a:buNone/>
            </a:pPr>
            <a:r>
              <a:rPr lang="en-US" sz="1100" dirty="0">
                <a:solidFill>
                  <a:srgbClr val="5B6B79"/>
                </a:solidFill>
              </a:rPr>
              <a:t>Versioned dbt models and controlled releases.</a:t>
            </a:r>
            <a:endParaRPr lang="en-US" sz="1100" dirty="0"/>
          </a:p>
        </p:txBody>
      </p:sp>
      <p:sp>
        <p:nvSpPr>
          <p:cNvPr id="19" name="Shape 17"/>
          <p:cNvSpPr/>
          <p:nvPr/>
        </p:nvSpPr>
        <p:spPr>
          <a:xfrm>
            <a:off x="2388870" y="4572000"/>
            <a:ext cx="3520440" cy="1554480"/>
          </a:xfrm>
          <a:prstGeom prst="roundRect">
            <a:avLst>
              <a:gd name="adj" fmla="val 5882"/>
            </a:avLst>
          </a:prstGeom>
          <a:solidFill>
            <a:srgbClr val="FBF1DF"/>
          </a:solidFill>
          <a:ln w="12700">
            <a:solidFill>
              <a:srgbClr val="C6881F"/>
            </a:solidFill>
            <a:prstDash val="solid"/>
          </a:ln>
        </p:spPr>
      </p:sp>
      <p:sp>
        <p:nvSpPr>
          <p:cNvPr id="20" name="Shape 18"/>
          <p:cNvSpPr/>
          <p:nvPr/>
        </p:nvSpPr>
        <p:spPr>
          <a:xfrm>
            <a:off x="2663190" y="4809744"/>
            <a:ext cx="274320" cy="274320"/>
          </a:xfrm>
          <a:prstGeom prst="roundRect">
            <a:avLst>
              <a:gd name="adj" fmla="val 20000"/>
            </a:avLst>
          </a:prstGeom>
          <a:solidFill>
            <a:srgbClr val="D59A2E"/>
          </a:solidFill>
          <a:ln w="12700">
            <a:solidFill>
              <a:srgbClr val="D59A2E"/>
            </a:solidFill>
            <a:prstDash val="solid"/>
          </a:ln>
        </p:spPr>
      </p:sp>
      <p:sp>
        <p:nvSpPr>
          <p:cNvPr id="21" name="Text 19"/>
          <p:cNvSpPr txBox="1"/>
          <p:nvPr/>
        </p:nvSpPr>
        <p:spPr>
          <a:xfrm>
            <a:off x="2663190" y="5157216"/>
            <a:ext cx="2971800" cy="457200"/>
          </a:xfrm>
          <a:prstGeom prst="rect">
            <a:avLst/>
          </a:prstGeom>
          <a:noFill/>
          <a:ln/>
        </p:spPr>
        <p:txBody>
          <a:bodyPr wrap="square" lIns="0" tIns="0" rIns="0" bIns="0" rtlCol="0" anchor="t"/>
          <a:lstStyle/>
          <a:p>
            <a:pPr indent="0" marL="0">
              <a:buNone/>
            </a:pPr>
            <a:r>
              <a:rPr lang="en-US" sz="1400" b="1" dirty="0">
                <a:solidFill>
                  <a:srgbClr val="14344F"/>
                </a:solidFill>
              </a:rPr>
              <a:t>Data-quality alerting</a:t>
            </a:r>
            <a:endParaRPr lang="en-US" sz="1400" dirty="0"/>
          </a:p>
        </p:txBody>
      </p:sp>
      <p:sp>
        <p:nvSpPr>
          <p:cNvPr id="22" name="Text 20"/>
          <p:cNvSpPr txBox="1"/>
          <p:nvPr/>
        </p:nvSpPr>
        <p:spPr>
          <a:xfrm>
            <a:off x="2663190" y="5596128"/>
            <a:ext cx="2971800" cy="411480"/>
          </a:xfrm>
          <a:prstGeom prst="rect">
            <a:avLst/>
          </a:prstGeom>
          <a:noFill/>
          <a:ln/>
        </p:spPr>
        <p:txBody>
          <a:bodyPr wrap="square" lIns="0" tIns="0" rIns="0" bIns="0" rtlCol="0" anchor="t"/>
          <a:lstStyle/>
          <a:p>
            <a:pPr indent="0" marL="0">
              <a:buNone/>
            </a:pPr>
            <a:r>
              <a:rPr lang="en-US" sz="1100" dirty="0">
                <a:solidFill>
                  <a:srgbClr val="5B6B79"/>
                </a:solidFill>
              </a:rPr>
              <a:t>Automated alerts on dbt data-quality test failures.</a:t>
            </a:r>
            <a:endParaRPr lang="en-US" sz="1100" dirty="0"/>
          </a:p>
        </p:txBody>
      </p:sp>
      <p:sp>
        <p:nvSpPr>
          <p:cNvPr id="23" name="Shape 21"/>
          <p:cNvSpPr/>
          <p:nvPr/>
        </p:nvSpPr>
        <p:spPr>
          <a:xfrm>
            <a:off x="6252210" y="4572000"/>
            <a:ext cx="3520440" cy="1554480"/>
          </a:xfrm>
          <a:prstGeom prst="roundRect">
            <a:avLst>
              <a:gd name="adj" fmla="val 5882"/>
            </a:avLst>
          </a:prstGeom>
          <a:solidFill>
            <a:srgbClr val="FBF1DF"/>
          </a:solidFill>
          <a:ln w="12700">
            <a:solidFill>
              <a:srgbClr val="C6881F"/>
            </a:solidFill>
            <a:prstDash val="solid"/>
          </a:ln>
        </p:spPr>
      </p:sp>
      <p:sp>
        <p:nvSpPr>
          <p:cNvPr id="24" name="Shape 22"/>
          <p:cNvSpPr/>
          <p:nvPr/>
        </p:nvSpPr>
        <p:spPr>
          <a:xfrm>
            <a:off x="6526530" y="4809744"/>
            <a:ext cx="274320" cy="274320"/>
          </a:xfrm>
          <a:prstGeom prst="roundRect">
            <a:avLst>
              <a:gd name="adj" fmla="val 20000"/>
            </a:avLst>
          </a:prstGeom>
          <a:solidFill>
            <a:srgbClr val="D59A2E"/>
          </a:solidFill>
          <a:ln w="12700">
            <a:solidFill>
              <a:srgbClr val="D59A2E"/>
            </a:solidFill>
            <a:prstDash val="solid"/>
          </a:ln>
        </p:spPr>
      </p:sp>
      <p:sp>
        <p:nvSpPr>
          <p:cNvPr id="25" name="Text 23"/>
          <p:cNvSpPr txBox="1"/>
          <p:nvPr/>
        </p:nvSpPr>
        <p:spPr>
          <a:xfrm>
            <a:off x="6526530" y="5157216"/>
            <a:ext cx="2971800" cy="457200"/>
          </a:xfrm>
          <a:prstGeom prst="rect">
            <a:avLst/>
          </a:prstGeom>
          <a:noFill/>
          <a:ln/>
        </p:spPr>
        <p:txBody>
          <a:bodyPr wrap="square" lIns="0" tIns="0" rIns="0" bIns="0" rtlCol="0" anchor="t"/>
          <a:lstStyle/>
          <a:p>
            <a:pPr indent="0" marL="0">
              <a:buNone/>
            </a:pPr>
            <a:r>
              <a:rPr lang="en-US" sz="1400" b="1" dirty="0">
                <a:solidFill>
                  <a:srgbClr val="14344F"/>
                </a:solidFill>
              </a:rPr>
              <a:t>Data freshness</a:t>
            </a:r>
            <a:endParaRPr lang="en-US" sz="1400" dirty="0"/>
          </a:p>
        </p:txBody>
      </p:sp>
      <p:sp>
        <p:nvSpPr>
          <p:cNvPr id="26" name="Text 24"/>
          <p:cNvSpPr txBox="1"/>
          <p:nvPr/>
        </p:nvSpPr>
        <p:spPr>
          <a:xfrm>
            <a:off x="6526530" y="5596128"/>
            <a:ext cx="2971800" cy="411480"/>
          </a:xfrm>
          <a:prstGeom prst="rect">
            <a:avLst/>
          </a:prstGeom>
          <a:noFill/>
          <a:ln/>
        </p:spPr>
        <p:txBody>
          <a:bodyPr wrap="square" lIns="0" tIns="0" rIns="0" bIns="0" rtlCol="0" anchor="t"/>
          <a:lstStyle/>
          <a:p>
            <a:pPr indent="0" marL="0">
              <a:buNone/>
            </a:pPr>
            <a:r>
              <a:rPr lang="en-US" sz="1100" dirty="0">
                <a:solidFill>
                  <a:srgbClr val="5B6B79"/>
                </a:solidFill>
              </a:rPr>
              <a:t>Freshness tracking and SLAs surfaced to consumers.</a:t>
            </a:r>
            <a:endParaRPr lang="en-US" sz="110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9184"/>
            <a:ext cx="11247120" cy="548640"/>
          </a:xfrm>
          <a:prstGeom prst="rect">
            <a:avLst/>
          </a:prstGeom>
          <a:noFill/>
          <a:ln/>
        </p:spPr>
        <p:txBody>
          <a:bodyPr wrap="square" lIns="0" tIns="0" rIns="0" bIns="0" rtlCol="0" anchor="ctr"/>
          <a:lstStyle/>
          <a:p>
            <a:pPr indent="0" marL="0">
              <a:buNone/>
            </a:pPr>
            <a:r>
              <a:rPr lang="en-US" sz="3000" b="1" dirty="0">
                <a:solidFill>
                  <a:srgbClr val="14344F"/>
                </a:solidFill>
              </a:rPr>
              <a:t>End-to-end platform — commit to curated</a:t>
            </a:r>
            <a:endParaRPr lang="en-US" sz="3000" dirty="0"/>
          </a:p>
        </p:txBody>
      </p:sp>
      <p:sp>
        <p:nvSpPr>
          <p:cNvPr id="3" name="Shape 1"/>
          <p:cNvSpPr/>
          <p:nvPr/>
        </p:nvSpPr>
        <p:spPr>
          <a:xfrm>
            <a:off x="2231136" y="1325880"/>
            <a:ext cx="7516368" cy="2057400"/>
          </a:xfrm>
          <a:prstGeom prst="roundRect">
            <a:avLst>
              <a:gd name="adj" fmla="val 4444"/>
            </a:avLst>
          </a:prstGeom>
          <a:solidFill>
            <a:srgbClr val="FFFFFF">
              <a:alpha val="0"/>
            </a:srgbClr>
          </a:solidFill>
          <a:ln w="15875">
            <a:solidFill>
              <a:srgbClr val="3291D6"/>
            </a:solidFill>
            <a:prstDash val="dash"/>
          </a:ln>
        </p:spPr>
      </p:sp>
      <p:sp>
        <p:nvSpPr>
          <p:cNvPr id="4" name="Text 2"/>
          <p:cNvSpPr txBox="1"/>
          <p:nvPr/>
        </p:nvSpPr>
        <p:spPr>
          <a:xfrm>
            <a:off x="2377440" y="1371600"/>
            <a:ext cx="3840480" cy="274320"/>
          </a:xfrm>
          <a:prstGeom prst="rect">
            <a:avLst/>
          </a:prstGeom>
          <a:noFill/>
          <a:ln/>
        </p:spPr>
        <p:txBody>
          <a:bodyPr wrap="square" lIns="0" tIns="0" rIns="0" bIns="0" rtlCol="0" anchor="ctr"/>
          <a:lstStyle/>
          <a:p>
            <a:pPr indent="0" marL="0">
              <a:buNone/>
            </a:pPr>
            <a:r>
              <a:rPr lang="en-US" sz="1100" b="1" dirty="0">
                <a:solidFill>
                  <a:srgbClr val="0F4C7A"/>
                </a:solidFill>
              </a:rPr>
              <a:t>VPC Service Controls perimeter</a:t>
            </a:r>
            <a:endParaRPr lang="en-US" sz="1100" dirty="0"/>
          </a:p>
        </p:txBody>
      </p:sp>
      <p:sp>
        <p:nvSpPr>
          <p:cNvPr id="5" name="Text 3"/>
          <p:cNvSpPr txBox="1"/>
          <p:nvPr/>
        </p:nvSpPr>
        <p:spPr>
          <a:xfrm>
            <a:off x="5760720" y="1371600"/>
            <a:ext cx="3840480" cy="274320"/>
          </a:xfrm>
          <a:prstGeom prst="rect">
            <a:avLst/>
          </a:prstGeom>
          <a:noFill/>
          <a:ln/>
        </p:spPr>
        <p:txBody>
          <a:bodyPr wrap="square" lIns="0" tIns="0" rIns="0" bIns="0" rtlCol="0" anchor="ctr"/>
          <a:lstStyle/>
          <a:p>
            <a:pPr algn="r" indent="0" marL="0">
              <a:buNone/>
            </a:pPr>
            <a:r>
              <a:rPr lang="en-US" sz="1100" dirty="0">
                <a:solidFill>
                  <a:srgbClr val="0F4C7A"/>
                </a:solidFill>
              </a:rPr>
              <a:t>Orchestration: Cloud Composer · Airflow</a:t>
            </a:r>
            <a:endParaRPr lang="en-US" sz="1100" dirty="0"/>
          </a:p>
        </p:txBody>
      </p:sp>
      <p:sp>
        <p:nvSpPr>
          <p:cNvPr id="6" name="Shape 4"/>
          <p:cNvSpPr/>
          <p:nvPr/>
        </p:nvSpPr>
        <p:spPr>
          <a:xfrm>
            <a:off x="457200" y="1965960"/>
            <a:ext cx="1371600" cy="749808"/>
          </a:xfrm>
          <a:prstGeom prst="roundRect">
            <a:avLst>
              <a:gd name="adj" fmla="val 8537"/>
            </a:avLst>
          </a:prstGeom>
          <a:solidFill>
            <a:srgbClr val="F1EFE8"/>
          </a:solidFill>
          <a:ln w="15875">
            <a:solidFill>
              <a:srgbClr val="888780"/>
            </a:solidFill>
            <a:prstDash val="solid"/>
          </a:ln>
        </p:spPr>
      </p:sp>
      <p:sp>
        <p:nvSpPr>
          <p:cNvPr id="7" name="Text 5"/>
          <p:cNvSpPr txBox="1"/>
          <p:nvPr/>
        </p:nvSpPr>
        <p:spPr>
          <a:xfrm>
            <a:off x="457200" y="1965960"/>
            <a:ext cx="1371600" cy="749808"/>
          </a:xfrm>
          <a:prstGeom prst="rect">
            <a:avLst/>
          </a:prstGeom>
          <a:noFill/>
          <a:ln/>
        </p:spPr>
        <p:txBody>
          <a:bodyPr wrap="square" lIns="0" tIns="0" rIns="0" bIns="0" rtlCol="0" anchor="ctr"/>
          <a:lstStyle/>
          <a:p>
            <a:pPr algn="ctr" indent="0" marL="0">
              <a:buNone/>
            </a:pPr>
            <a:r>
              <a:rPr lang="en-US" sz="1300" b="1" dirty="0">
                <a:solidFill>
                  <a:srgbClr val="444441"/>
                </a:solidFill>
              </a:rPr>
              <a:t>Sources</a:t>
            </a:r>
            <a:endParaRPr lang="en-US" sz="1300" dirty="0"/>
          </a:p>
          <a:p>
            <a:pPr algn="ctr" indent="0" marL="0">
              <a:buNone/>
            </a:pPr>
            <a:r>
              <a:rPr lang="en-US" sz="1000" dirty="0">
                <a:solidFill>
                  <a:srgbClr val="888780"/>
                </a:solidFill>
              </a:rPr>
              <a:t>upstream</a:t>
            </a:r>
            <a:endParaRPr lang="en-US" sz="1300" dirty="0"/>
          </a:p>
        </p:txBody>
      </p:sp>
      <p:sp>
        <p:nvSpPr>
          <p:cNvPr id="8" name="Shape 6"/>
          <p:cNvSpPr/>
          <p:nvPr/>
        </p:nvSpPr>
        <p:spPr>
          <a:xfrm>
            <a:off x="2414016" y="1965960"/>
            <a:ext cx="1554480" cy="749808"/>
          </a:xfrm>
          <a:prstGeom prst="roundRect">
            <a:avLst>
              <a:gd name="adj" fmla="val 8537"/>
            </a:avLst>
          </a:prstGeom>
          <a:solidFill>
            <a:srgbClr val="E4F1FB"/>
          </a:solidFill>
          <a:ln w="15875">
            <a:solidFill>
              <a:srgbClr val="3291D6"/>
            </a:solidFill>
            <a:prstDash val="solid"/>
          </a:ln>
        </p:spPr>
      </p:sp>
      <p:sp>
        <p:nvSpPr>
          <p:cNvPr id="9" name="Text 7"/>
          <p:cNvSpPr txBox="1"/>
          <p:nvPr/>
        </p:nvSpPr>
        <p:spPr>
          <a:xfrm>
            <a:off x="2414016" y="1965960"/>
            <a:ext cx="1554480" cy="749808"/>
          </a:xfrm>
          <a:prstGeom prst="rect">
            <a:avLst/>
          </a:prstGeom>
          <a:noFill/>
          <a:ln/>
        </p:spPr>
        <p:txBody>
          <a:bodyPr wrap="square" lIns="0" tIns="0" rIns="0" bIns="0" rtlCol="0" anchor="ctr"/>
          <a:lstStyle/>
          <a:p>
            <a:pPr algn="ctr" indent="0" marL="0">
              <a:buNone/>
            </a:pPr>
            <a:r>
              <a:rPr lang="en-US" sz="1300" b="1" dirty="0">
                <a:solidFill>
                  <a:srgbClr val="0F4C7A"/>
                </a:solidFill>
              </a:rPr>
              <a:t>Ingestion</a:t>
            </a:r>
            <a:endParaRPr lang="en-US" sz="1300" dirty="0"/>
          </a:p>
          <a:p>
            <a:pPr algn="ctr" indent="0" marL="0">
              <a:buNone/>
            </a:pPr>
            <a:r>
              <a:rPr lang="en-US" sz="1000" dirty="0">
                <a:solidFill>
                  <a:srgbClr val="1C6EA8"/>
                </a:solidFill>
              </a:rPr>
              <a:t>parallel</a:t>
            </a:r>
            <a:endParaRPr lang="en-US" sz="1300" dirty="0"/>
          </a:p>
        </p:txBody>
      </p:sp>
      <p:sp>
        <p:nvSpPr>
          <p:cNvPr id="10" name="Shape 8"/>
          <p:cNvSpPr/>
          <p:nvPr/>
        </p:nvSpPr>
        <p:spPr>
          <a:xfrm>
            <a:off x="4553712" y="1965960"/>
            <a:ext cx="1188720" cy="749808"/>
          </a:xfrm>
          <a:prstGeom prst="roundRect">
            <a:avLst>
              <a:gd name="adj" fmla="val 8537"/>
            </a:avLst>
          </a:prstGeom>
          <a:solidFill>
            <a:srgbClr val="E4F1FB"/>
          </a:solidFill>
          <a:ln w="15875">
            <a:solidFill>
              <a:srgbClr val="3291D6"/>
            </a:solidFill>
            <a:prstDash val="solid"/>
          </a:ln>
        </p:spPr>
      </p:sp>
      <p:sp>
        <p:nvSpPr>
          <p:cNvPr id="11" name="Text 9"/>
          <p:cNvSpPr txBox="1"/>
          <p:nvPr/>
        </p:nvSpPr>
        <p:spPr>
          <a:xfrm>
            <a:off x="4553712" y="1965960"/>
            <a:ext cx="1188720" cy="749808"/>
          </a:xfrm>
          <a:prstGeom prst="rect">
            <a:avLst/>
          </a:prstGeom>
          <a:noFill/>
          <a:ln/>
        </p:spPr>
        <p:txBody>
          <a:bodyPr wrap="square" lIns="0" tIns="0" rIns="0" bIns="0" rtlCol="0" anchor="ctr"/>
          <a:lstStyle/>
          <a:p>
            <a:pPr algn="ctr" indent="0" marL="0">
              <a:buNone/>
            </a:pPr>
            <a:r>
              <a:rPr lang="en-US" sz="1300" b="1" dirty="0">
                <a:solidFill>
                  <a:srgbClr val="0F4C7A"/>
                </a:solidFill>
              </a:rPr>
              <a:t>Raw</a:t>
            </a:r>
            <a:endParaRPr lang="en-US" sz="1300" dirty="0"/>
          </a:p>
        </p:txBody>
      </p:sp>
      <p:sp>
        <p:nvSpPr>
          <p:cNvPr id="12" name="Shape 10"/>
          <p:cNvSpPr/>
          <p:nvPr/>
        </p:nvSpPr>
        <p:spPr>
          <a:xfrm>
            <a:off x="6327648" y="1965960"/>
            <a:ext cx="1280160" cy="749808"/>
          </a:xfrm>
          <a:prstGeom prst="roundRect">
            <a:avLst>
              <a:gd name="adj" fmla="val 8537"/>
            </a:avLst>
          </a:prstGeom>
          <a:solidFill>
            <a:srgbClr val="E4F1FB"/>
          </a:solidFill>
          <a:ln w="15875">
            <a:solidFill>
              <a:srgbClr val="3291D6"/>
            </a:solidFill>
            <a:prstDash val="solid"/>
          </a:ln>
        </p:spPr>
      </p:sp>
      <p:sp>
        <p:nvSpPr>
          <p:cNvPr id="13" name="Text 11"/>
          <p:cNvSpPr txBox="1"/>
          <p:nvPr/>
        </p:nvSpPr>
        <p:spPr>
          <a:xfrm>
            <a:off x="6327648" y="1965960"/>
            <a:ext cx="1280160" cy="749808"/>
          </a:xfrm>
          <a:prstGeom prst="rect">
            <a:avLst/>
          </a:prstGeom>
          <a:noFill/>
          <a:ln/>
        </p:spPr>
        <p:txBody>
          <a:bodyPr wrap="square" lIns="0" tIns="0" rIns="0" bIns="0" rtlCol="0" anchor="ctr"/>
          <a:lstStyle/>
          <a:p>
            <a:pPr algn="ctr" indent="0" marL="0">
              <a:buNone/>
            </a:pPr>
            <a:r>
              <a:rPr lang="en-US" sz="1300" b="1" dirty="0">
                <a:solidFill>
                  <a:srgbClr val="0F4C7A"/>
                </a:solidFill>
              </a:rPr>
              <a:t>Staging</a:t>
            </a:r>
            <a:endParaRPr lang="en-US" sz="1300" dirty="0"/>
          </a:p>
        </p:txBody>
      </p:sp>
      <p:sp>
        <p:nvSpPr>
          <p:cNvPr id="14" name="Shape 12"/>
          <p:cNvSpPr/>
          <p:nvPr/>
        </p:nvSpPr>
        <p:spPr>
          <a:xfrm>
            <a:off x="8193024" y="1965960"/>
            <a:ext cx="1371600" cy="749808"/>
          </a:xfrm>
          <a:prstGeom prst="roundRect">
            <a:avLst>
              <a:gd name="adj" fmla="val 8537"/>
            </a:avLst>
          </a:prstGeom>
          <a:solidFill>
            <a:srgbClr val="E4F1FB"/>
          </a:solidFill>
          <a:ln w="15875">
            <a:solidFill>
              <a:srgbClr val="3291D6"/>
            </a:solidFill>
            <a:prstDash val="solid"/>
          </a:ln>
        </p:spPr>
      </p:sp>
      <p:sp>
        <p:nvSpPr>
          <p:cNvPr id="15" name="Text 13"/>
          <p:cNvSpPr txBox="1"/>
          <p:nvPr/>
        </p:nvSpPr>
        <p:spPr>
          <a:xfrm>
            <a:off x="8193024" y="1965960"/>
            <a:ext cx="1371600" cy="749808"/>
          </a:xfrm>
          <a:prstGeom prst="rect">
            <a:avLst/>
          </a:prstGeom>
          <a:noFill/>
          <a:ln/>
        </p:spPr>
        <p:txBody>
          <a:bodyPr wrap="square" lIns="0" tIns="0" rIns="0" bIns="0" rtlCol="0" anchor="ctr"/>
          <a:lstStyle/>
          <a:p>
            <a:pPr algn="ctr" indent="0" marL="0">
              <a:buNone/>
            </a:pPr>
            <a:r>
              <a:rPr lang="en-US" sz="1300" b="1" dirty="0">
                <a:solidFill>
                  <a:srgbClr val="0F4C7A"/>
                </a:solidFill>
              </a:rPr>
              <a:t>Curated</a:t>
            </a:r>
            <a:endParaRPr lang="en-US" sz="1300" dirty="0"/>
          </a:p>
          <a:p>
            <a:pPr algn="ctr" indent="0" marL="0">
              <a:buNone/>
            </a:pPr>
            <a:r>
              <a:rPr lang="en-US" sz="1000" dirty="0">
                <a:solidFill>
                  <a:srgbClr val="1C6EA8"/>
                </a:solidFill>
              </a:rPr>
              <a:t>serving</a:t>
            </a:r>
            <a:endParaRPr lang="en-US" sz="1300" dirty="0"/>
          </a:p>
        </p:txBody>
      </p:sp>
      <p:sp>
        <p:nvSpPr>
          <p:cNvPr id="16" name="Shape 14"/>
          <p:cNvSpPr/>
          <p:nvPr/>
        </p:nvSpPr>
        <p:spPr>
          <a:xfrm>
            <a:off x="10149840" y="1965960"/>
            <a:ext cx="1554480" cy="749808"/>
          </a:xfrm>
          <a:prstGeom prst="roundRect">
            <a:avLst>
              <a:gd name="adj" fmla="val 8537"/>
            </a:avLst>
          </a:prstGeom>
          <a:solidFill>
            <a:srgbClr val="F1EFE8"/>
          </a:solidFill>
          <a:ln w="15875">
            <a:solidFill>
              <a:srgbClr val="888780"/>
            </a:solidFill>
            <a:prstDash val="solid"/>
          </a:ln>
        </p:spPr>
      </p:sp>
      <p:sp>
        <p:nvSpPr>
          <p:cNvPr id="17" name="Text 15"/>
          <p:cNvSpPr txBox="1"/>
          <p:nvPr/>
        </p:nvSpPr>
        <p:spPr>
          <a:xfrm>
            <a:off x="10149840" y="1965960"/>
            <a:ext cx="1554480" cy="749808"/>
          </a:xfrm>
          <a:prstGeom prst="rect">
            <a:avLst/>
          </a:prstGeom>
          <a:noFill/>
          <a:ln/>
        </p:spPr>
        <p:txBody>
          <a:bodyPr wrap="square" lIns="0" tIns="0" rIns="0" bIns="0" rtlCol="0" anchor="ctr"/>
          <a:lstStyle/>
          <a:p>
            <a:pPr algn="ctr" indent="0" marL="0">
              <a:buNone/>
            </a:pPr>
            <a:r>
              <a:rPr lang="en-US" sz="1300" b="1" dirty="0">
                <a:solidFill>
                  <a:srgbClr val="444441"/>
                </a:solidFill>
              </a:rPr>
              <a:t>Consumers</a:t>
            </a:r>
            <a:endParaRPr lang="en-US" sz="1300" dirty="0"/>
          </a:p>
          <a:p>
            <a:pPr algn="ctr" indent="0" marL="0">
              <a:buNone/>
            </a:pPr>
            <a:r>
              <a:rPr lang="en-US" sz="1000" dirty="0">
                <a:solidFill>
                  <a:srgbClr val="888780"/>
                </a:solidFill>
              </a:rPr>
              <a:t>BI &amp; apps</a:t>
            </a:r>
            <a:endParaRPr lang="en-US" sz="1300" dirty="0"/>
          </a:p>
        </p:txBody>
      </p:sp>
      <p:sp>
        <p:nvSpPr>
          <p:cNvPr id="18" name="Shape 16"/>
          <p:cNvSpPr/>
          <p:nvPr/>
        </p:nvSpPr>
        <p:spPr>
          <a:xfrm>
            <a:off x="1828800" y="2340864"/>
            <a:ext cx="585216" cy="0"/>
          </a:xfrm>
          <a:prstGeom prst="line">
            <a:avLst/>
          </a:prstGeom>
          <a:noFill/>
          <a:ln w="19050">
            <a:solidFill>
              <a:srgbClr val="5F6E7A"/>
            </a:solidFill>
            <a:prstDash val="solid"/>
            <a:tailEnd type="triangle"/>
          </a:ln>
        </p:spPr>
      </p:sp>
      <p:sp>
        <p:nvSpPr>
          <p:cNvPr id="19" name="Shape 17"/>
          <p:cNvSpPr/>
          <p:nvPr/>
        </p:nvSpPr>
        <p:spPr>
          <a:xfrm>
            <a:off x="3968496" y="2340864"/>
            <a:ext cx="585216" cy="0"/>
          </a:xfrm>
          <a:prstGeom prst="line">
            <a:avLst/>
          </a:prstGeom>
          <a:noFill/>
          <a:ln w="19050">
            <a:solidFill>
              <a:srgbClr val="5F6E7A"/>
            </a:solidFill>
            <a:prstDash val="solid"/>
            <a:tailEnd type="triangle"/>
          </a:ln>
        </p:spPr>
      </p:sp>
      <p:sp>
        <p:nvSpPr>
          <p:cNvPr id="20" name="Shape 18"/>
          <p:cNvSpPr/>
          <p:nvPr/>
        </p:nvSpPr>
        <p:spPr>
          <a:xfrm>
            <a:off x="5742432" y="2340864"/>
            <a:ext cx="585216" cy="0"/>
          </a:xfrm>
          <a:prstGeom prst="line">
            <a:avLst/>
          </a:prstGeom>
          <a:noFill/>
          <a:ln w="19050">
            <a:solidFill>
              <a:srgbClr val="5F6E7A"/>
            </a:solidFill>
            <a:prstDash val="solid"/>
            <a:tailEnd type="triangle"/>
          </a:ln>
        </p:spPr>
      </p:sp>
      <p:sp>
        <p:nvSpPr>
          <p:cNvPr id="21" name="Shape 19"/>
          <p:cNvSpPr/>
          <p:nvPr/>
        </p:nvSpPr>
        <p:spPr>
          <a:xfrm>
            <a:off x="7607808" y="2340864"/>
            <a:ext cx="585216" cy="0"/>
          </a:xfrm>
          <a:prstGeom prst="line">
            <a:avLst/>
          </a:prstGeom>
          <a:noFill/>
          <a:ln w="19050">
            <a:solidFill>
              <a:srgbClr val="5F6E7A"/>
            </a:solidFill>
            <a:prstDash val="solid"/>
            <a:tailEnd type="triangle"/>
          </a:ln>
        </p:spPr>
      </p:sp>
      <p:sp>
        <p:nvSpPr>
          <p:cNvPr id="22" name="Shape 20"/>
          <p:cNvSpPr/>
          <p:nvPr/>
        </p:nvSpPr>
        <p:spPr>
          <a:xfrm>
            <a:off x="9564624" y="2340864"/>
            <a:ext cx="585216" cy="0"/>
          </a:xfrm>
          <a:prstGeom prst="line">
            <a:avLst/>
          </a:prstGeom>
          <a:noFill/>
          <a:ln w="19050">
            <a:solidFill>
              <a:srgbClr val="5F6E7A"/>
            </a:solidFill>
            <a:prstDash val="solid"/>
            <a:tailEnd type="triangle"/>
          </a:ln>
        </p:spPr>
      </p:sp>
      <p:sp>
        <p:nvSpPr>
          <p:cNvPr id="23" name="Shape 21"/>
          <p:cNvSpPr/>
          <p:nvPr/>
        </p:nvSpPr>
        <p:spPr>
          <a:xfrm>
            <a:off x="2414016" y="2871216"/>
            <a:ext cx="1554480" cy="420624"/>
          </a:xfrm>
          <a:prstGeom prst="roundRect">
            <a:avLst>
              <a:gd name="adj" fmla="val 15217"/>
            </a:avLst>
          </a:prstGeom>
          <a:solidFill>
            <a:srgbClr val="E4F1FB"/>
          </a:solidFill>
          <a:ln w="15875">
            <a:solidFill>
              <a:srgbClr val="3291D6"/>
            </a:solidFill>
            <a:prstDash val="solid"/>
          </a:ln>
        </p:spPr>
      </p:sp>
      <p:sp>
        <p:nvSpPr>
          <p:cNvPr id="24" name="Text 22"/>
          <p:cNvSpPr txBox="1"/>
          <p:nvPr/>
        </p:nvSpPr>
        <p:spPr>
          <a:xfrm>
            <a:off x="2414016" y="2871216"/>
            <a:ext cx="1554480" cy="420624"/>
          </a:xfrm>
          <a:prstGeom prst="rect">
            <a:avLst/>
          </a:prstGeom>
          <a:noFill/>
          <a:ln/>
        </p:spPr>
        <p:txBody>
          <a:bodyPr wrap="square" lIns="0" tIns="0" rIns="0" bIns="0" rtlCol="0" anchor="ctr"/>
          <a:lstStyle/>
          <a:p>
            <a:pPr algn="ctr" indent="0" marL="0">
              <a:buNone/>
            </a:pPr>
            <a:r>
              <a:rPr lang="en-US" sz="1050" b="1" dirty="0">
                <a:solidFill>
                  <a:srgbClr val="0F4C7A"/>
                </a:solidFill>
              </a:rPr>
              <a:t>Secret Manager</a:t>
            </a:r>
            <a:endParaRPr lang="en-US" sz="1050" dirty="0"/>
          </a:p>
          <a:p>
            <a:pPr algn="ctr" indent="0" marL="0">
              <a:buNone/>
            </a:pPr>
            <a:r>
              <a:rPr lang="en-US" sz="900" dirty="0">
                <a:solidFill>
                  <a:srgbClr val="1C6EA8"/>
                </a:solidFill>
              </a:rPr>
              <a:t>Oracle credentials</a:t>
            </a:r>
            <a:endParaRPr lang="en-US" sz="1050" dirty="0"/>
          </a:p>
        </p:txBody>
      </p:sp>
      <p:sp>
        <p:nvSpPr>
          <p:cNvPr id="25" name="Shape 23"/>
          <p:cNvSpPr/>
          <p:nvPr/>
        </p:nvSpPr>
        <p:spPr>
          <a:xfrm>
            <a:off x="3191256" y="2715768"/>
            <a:ext cx="0" cy="155448"/>
          </a:xfrm>
          <a:prstGeom prst="line">
            <a:avLst/>
          </a:prstGeom>
          <a:noFill/>
          <a:ln w="15875">
            <a:solidFill>
              <a:srgbClr val="3291D6"/>
            </a:solidFill>
            <a:prstDash val="solid"/>
            <a:headEnd type="triangle"/>
          </a:ln>
        </p:spPr>
      </p:sp>
      <p:sp>
        <p:nvSpPr>
          <p:cNvPr id="26" name="Shape 24"/>
          <p:cNvSpPr/>
          <p:nvPr/>
        </p:nvSpPr>
        <p:spPr>
          <a:xfrm>
            <a:off x="4553712" y="2871216"/>
            <a:ext cx="5010912" cy="402336"/>
          </a:xfrm>
          <a:prstGeom prst="roundRect">
            <a:avLst>
              <a:gd name="adj" fmla="val 15909"/>
            </a:avLst>
          </a:prstGeom>
          <a:solidFill>
            <a:srgbClr val="F1F7FD"/>
          </a:solidFill>
          <a:ln w="12700">
            <a:solidFill>
              <a:srgbClr val="3291D6"/>
            </a:solidFill>
            <a:prstDash val="dash"/>
          </a:ln>
        </p:spPr>
      </p:sp>
      <p:pic>
        <p:nvPicPr>
          <p:cNvPr id="27" name="Image 0" descr="/home/claude/icons/dbt.png">    </p:cNvPr>
          <p:cNvPicPr>
            <a:picLocks noChangeAspect="1"/>
          </p:cNvPicPr>
          <p:nvPr/>
        </p:nvPicPr>
        <p:blipFill>
          <a:blip r:embed="rId1"/>
          <a:stretch>
            <a:fillRect/>
          </a:stretch>
        </p:blipFill>
        <p:spPr>
          <a:xfrm>
            <a:off x="4736592" y="2926080"/>
            <a:ext cx="292608" cy="292608"/>
          </a:xfrm>
          <a:prstGeom prst="rect">
            <a:avLst/>
          </a:prstGeom>
        </p:spPr>
      </p:pic>
      <p:sp>
        <p:nvSpPr>
          <p:cNvPr id="28" name="Text 25"/>
          <p:cNvSpPr txBox="1"/>
          <p:nvPr/>
        </p:nvSpPr>
        <p:spPr>
          <a:xfrm>
            <a:off x="5029200" y="2871216"/>
            <a:ext cx="4389120" cy="402336"/>
          </a:xfrm>
          <a:prstGeom prst="rect">
            <a:avLst/>
          </a:prstGeom>
          <a:noFill/>
          <a:ln/>
        </p:spPr>
        <p:txBody>
          <a:bodyPr wrap="square" lIns="0" tIns="0" rIns="0" bIns="0" rtlCol="0" anchor="ctr"/>
          <a:lstStyle/>
          <a:p>
            <a:pPr algn="ctr" indent="0" marL="0">
              <a:buNone/>
            </a:pPr>
            <a:r>
              <a:rPr lang="en-US" sz="1050" i="1" dirty="0">
                <a:solidFill>
                  <a:srgbClr val="0F4C7A"/>
                </a:solidFill>
              </a:rPr>
              <a:t>dbt transform · Airflow BashOperator</a:t>
            </a:r>
            <a:endParaRPr lang="en-US" sz="1050" dirty="0"/>
          </a:p>
        </p:txBody>
      </p:sp>
      <p:sp>
        <p:nvSpPr>
          <p:cNvPr id="29" name="Shape 26"/>
          <p:cNvSpPr/>
          <p:nvPr/>
        </p:nvSpPr>
        <p:spPr>
          <a:xfrm>
            <a:off x="6309360" y="3383280"/>
            <a:ext cx="0" cy="822960"/>
          </a:xfrm>
          <a:prstGeom prst="line">
            <a:avLst/>
          </a:prstGeom>
          <a:noFill/>
          <a:ln w="15875">
            <a:solidFill>
              <a:srgbClr val="888780"/>
            </a:solidFill>
            <a:prstDash val="dash"/>
            <a:headEnd type="triangle"/>
          </a:ln>
        </p:spPr>
      </p:sp>
      <p:sp>
        <p:nvSpPr>
          <p:cNvPr id="30" name="Text 27"/>
          <p:cNvSpPr txBox="1"/>
          <p:nvPr/>
        </p:nvSpPr>
        <p:spPr>
          <a:xfrm>
            <a:off x="6446520" y="3611880"/>
            <a:ext cx="3017520" cy="365760"/>
          </a:xfrm>
          <a:prstGeom prst="rect">
            <a:avLst/>
          </a:prstGeom>
          <a:noFill/>
          <a:ln/>
        </p:spPr>
        <p:txBody>
          <a:bodyPr wrap="square" lIns="0" tIns="0" rIns="0" bIns="0" rtlCol="0" anchor="ctr"/>
          <a:lstStyle/>
          <a:p>
            <a:pPr indent="0" marL="0">
              <a:buNone/>
            </a:pPr>
            <a:r>
              <a:rPr lang="en-US" sz="1050" i="1" dirty="0">
                <a:solidFill>
                  <a:srgbClr val="444441"/>
                </a:solidFill>
              </a:rPr>
              <a:t>provisions &amp; deploys all platform infra</a:t>
            </a:r>
            <a:endParaRPr lang="en-US" sz="1050" dirty="0"/>
          </a:p>
        </p:txBody>
      </p:sp>
      <p:sp>
        <p:nvSpPr>
          <p:cNvPr id="31" name="Shape 28"/>
          <p:cNvSpPr/>
          <p:nvPr/>
        </p:nvSpPr>
        <p:spPr>
          <a:xfrm>
            <a:off x="914400" y="4206240"/>
            <a:ext cx="2103120" cy="777240"/>
          </a:xfrm>
          <a:prstGeom prst="roundRect">
            <a:avLst>
              <a:gd name="adj" fmla="val 8235"/>
            </a:avLst>
          </a:prstGeom>
          <a:solidFill>
            <a:srgbClr val="E4F1FB"/>
          </a:solidFill>
          <a:ln w="15875">
            <a:solidFill>
              <a:srgbClr val="3291D6"/>
            </a:solidFill>
            <a:prstDash val="solid"/>
          </a:ln>
        </p:spPr>
      </p:sp>
      <p:pic>
        <p:nvPicPr>
          <p:cNvPr id="32" name="Image 1" descr="/home/claude/icons/github.png">    </p:cNvPr>
          <p:cNvPicPr>
            <a:picLocks noChangeAspect="1"/>
          </p:cNvPicPr>
          <p:nvPr/>
        </p:nvPicPr>
        <p:blipFill>
          <a:blip r:embed="rId2"/>
          <a:stretch>
            <a:fillRect/>
          </a:stretch>
        </p:blipFill>
        <p:spPr>
          <a:xfrm>
            <a:off x="1078992" y="4402836"/>
            <a:ext cx="393265" cy="384048"/>
          </a:xfrm>
          <a:prstGeom prst="rect">
            <a:avLst/>
          </a:prstGeom>
        </p:spPr>
      </p:pic>
      <p:sp>
        <p:nvSpPr>
          <p:cNvPr id="33" name="Text 29"/>
          <p:cNvSpPr txBox="1"/>
          <p:nvPr/>
        </p:nvSpPr>
        <p:spPr>
          <a:xfrm>
            <a:off x="1618561" y="4206240"/>
            <a:ext cx="1307519" cy="777240"/>
          </a:xfrm>
          <a:prstGeom prst="rect">
            <a:avLst/>
          </a:prstGeom>
          <a:noFill/>
          <a:ln/>
        </p:spPr>
        <p:txBody>
          <a:bodyPr wrap="square" lIns="0" tIns="0" rIns="0" bIns="0" rtlCol="0" anchor="ctr"/>
          <a:lstStyle/>
          <a:p>
            <a:pPr algn="l" indent="0" marL="0">
              <a:buNone/>
            </a:pPr>
            <a:r>
              <a:rPr lang="en-US" sz="1250" b="1" dirty="0">
                <a:solidFill>
                  <a:srgbClr val="0F4C7A"/>
                </a:solidFill>
              </a:rPr>
              <a:t>GitHub</a:t>
            </a:r>
            <a:endParaRPr lang="en-US" sz="1250" dirty="0"/>
          </a:p>
          <a:p>
            <a:pPr algn="l" indent="0" marL="0">
              <a:buNone/>
            </a:pPr>
            <a:r>
              <a:rPr lang="en-US" sz="900" dirty="0">
                <a:solidFill>
                  <a:srgbClr val="1C6EA8"/>
                </a:solidFill>
              </a:rPr>
              <a:t>PR · merge</a:t>
            </a:r>
            <a:endParaRPr lang="en-US" sz="1250" dirty="0"/>
          </a:p>
        </p:txBody>
      </p:sp>
      <p:sp>
        <p:nvSpPr>
          <p:cNvPr id="34" name="Shape 30"/>
          <p:cNvSpPr/>
          <p:nvPr/>
        </p:nvSpPr>
        <p:spPr>
          <a:xfrm>
            <a:off x="3520440" y="4206240"/>
            <a:ext cx="2560320" cy="777240"/>
          </a:xfrm>
          <a:prstGeom prst="roundRect">
            <a:avLst>
              <a:gd name="adj" fmla="val 8235"/>
            </a:avLst>
          </a:prstGeom>
          <a:solidFill>
            <a:srgbClr val="E4F1FB"/>
          </a:solidFill>
          <a:ln w="15875">
            <a:solidFill>
              <a:srgbClr val="3291D6"/>
            </a:solidFill>
            <a:prstDash val="solid"/>
          </a:ln>
        </p:spPr>
      </p:sp>
      <p:pic>
        <p:nvPicPr>
          <p:cNvPr id="35" name="Image 2" descr="/home/claude/icons/githubactions.png">    </p:cNvPr>
          <p:cNvPicPr>
            <a:picLocks noChangeAspect="1"/>
          </p:cNvPicPr>
          <p:nvPr/>
        </p:nvPicPr>
        <p:blipFill>
          <a:blip r:embed="rId3"/>
          <a:stretch>
            <a:fillRect/>
          </a:stretch>
        </p:blipFill>
        <p:spPr>
          <a:xfrm>
            <a:off x="3685032" y="4402836"/>
            <a:ext cx="384048" cy="384048"/>
          </a:xfrm>
          <a:prstGeom prst="rect">
            <a:avLst/>
          </a:prstGeom>
        </p:spPr>
      </p:pic>
      <p:sp>
        <p:nvSpPr>
          <p:cNvPr id="36" name="Text 31"/>
          <p:cNvSpPr txBox="1"/>
          <p:nvPr/>
        </p:nvSpPr>
        <p:spPr>
          <a:xfrm>
            <a:off x="4215384" y="4206240"/>
            <a:ext cx="1773936" cy="777240"/>
          </a:xfrm>
          <a:prstGeom prst="rect">
            <a:avLst/>
          </a:prstGeom>
          <a:noFill/>
          <a:ln/>
        </p:spPr>
        <p:txBody>
          <a:bodyPr wrap="square" lIns="0" tIns="0" rIns="0" bIns="0" rtlCol="0" anchor="ctr"/>
          <a:lstStyle/>
          <a:p>
            <a:pPr algn="l" indent="0" marL="0">
              <a:buNone/>
            </a:pPr>
            <a:r>
              <a:rPr lang="en-US" sz="1250" b="1" dirty="0">
                <a:solidFill>
                  <a:srgbClr val="0F4C7A"/>
                </a:solidFill>
              </a:rPr>
              <a:t>GitHub Actions</a:t>
            </a:r>
            <a:endParaRPr lang="en-US" sz="1250" dirty="0"/>
          </a:p>
          <a:p>
            <a:pPr algn="l" indent="0" marL="0">
              <a:buNone/>
            </a:pPr>
            <a:r>
              <a:rPr lang="en-US" sz="900" dirty="0">
                <a:solidFill>
                  <a:srgbClr val="1C6EA8"/>
                </a:solidFill>
              </a:rPr>
              <a:t>self-hosted</a:t>
            </a:r>
            <a:endParaRPr lang="en-US" sz="1250" dirty="0"/>
          </a:p>
        </p:txBody>
      </p:sp>
      <p:sp>
        <p:nvSpPr>
          <p:cNvPr id="37" name="Shape 32"/>
          <p:cNvSpPr/>
          <p:nvPr/>
        </p:nvSpPr>
        <p:spPr>
          <a:xfrm>
            <a:off x="6583680" y="4206240"/>
            <a:ext cx="2103120" cy="777240"/>
          </a:xfrm>
          <a:prstGeom prst="roundRect">
            <a:avLst>
              <a:gd name="adj" fmla="val 8235"/>
            </a:avLst>
          </a:prstGeom>
          <a:solidFill>
            <a:srgbClr val="E4F1FB"/>
          </a:solidFill>
          <a:ln w="15875">
            <a:solidFill>
              <a:srgbClr val="3291D6"/>
            </a:solidFill>
            <a:prstDash val="solid"/>
          </a:ln>
        </p:spPr>
      </p:sp>
      <p:pic>
        <p:nvPicPr>
          <p:cNvPr id="38" name="Image 3" descr="/home/claude/icons/jfrog.png">    </p:cNvPr>
          <p:cNvPicPr>
            <a:picLocks noChangeAspect="1"/>
          </p:cNvPicPr>
          <p:nvPr/>
        </p:nvPicPr>
        <p:blipFill>
          <a:blip r:embed="rId4"/>
          <a:stretch>
            <a:fillRect/>
          </a:stretch>
        </p:blipFill>
        <p:spPr>
          <a:xfrm>
            <a:off x="6748272" y="4402836"/>
            <a:ext cx="396437" cy="384048"/>
          </a:xfrm>
          <a:prstGeom prst="rect">
            <a:avLst/>
          </a:prstGeom>
        </p:spPr>
      </p:pic>
      <p:sp>
        <p:nvSpPr>
          <p:cNvPr id="39" name="Text 33"/>
          <p:cNvSpPr txBox="1"/>
          <p:nvPr/>
        </p:nvSpPr>
        <p:spPr>
          <a:xfrm>
            <a:off x="7291013" y="4206240"/>
            <a:ext cx="1304347" cy="777240"/>
          </a:xfrm>
          <a:prstGeom prst="rect">
            <a:avLst/>
          </a:prstGeom>
          <a:noFill/>
          <a:ln/>
        </p:spPr>
        <p:txBody>
          <a:bodyPr wrap="square" lIns="0" tIns="0" rIns="0" bIns="0" rtlCol="0" anchor="ctr"/>
          <a:lstStyle/>
          <a:p>
            <a:pPr algn="l" indent="0" marL="0">
              <a:buNone/>
            </a:pPr>
            <a:r>
              <a:rPr lang="en-US" sz="1250" b="1" dirty="0">
                <a:solidFill>
                  <a:srgbClr val="0F4C7A"/>
                </a:solidFill>
              </a:rPr>
              <a:t>JFrog</a:t>
            </a:r>
            <a:endParaRPr lang="en-US" sz="1250" dirty="0"/>
          </a:p>
          <a:p>
            <a:pPr algn="l" indent="0" marL="0">
              <a:buNone/>
            </a:pPr>
            <a:r>
              <a:rPr lang="en-US" sz="900" dirty="0">
                <a:solidFill>
                  <a:srgbClr val="1C6EA8"/>
                </a:solidFill>
              </a:rPr>
              <a:t>private PyPI</a:t>
            </a:r>
            <a:endParaRPr lang="en-US" sz="1250" dirty="0"/>
          </a:p>
        </p:txBody>
      </p:sp>
      <p:sp>
        <p:nvSpPr>
          <p:cNvPr id="40" name="Shape 34"/>
          <p:cNvSpPr/>
          <p:nvPr/>
        </p:nvSpPr>
        <p:spPr>
          <a:xfrm>
            <a:off x="9189720" y="4206240"/>
            <a:ext cx="2103120" cy="777240"/>
          </a:xfrm>
          <a:prstGeom prst="roundRect">
            <a:avLst>
              <a:gd name="adj" fmla="val 8235"/>
            </a:avLst>
          </a:prstGeom>
          <a:solidFill>
            <a:srgbClr val="E4F1FB"/>
          </a:solidFill>
          <a:ln w="15875">
            <a:solidFill>
              <a:srgbClr val="3291D6"/>
            </a:solidFill>
            <a:prstDash val="solid"/>
          </a:ln>
        </p:spPr>
      </p:sp>
      <p:pic>
        <p:nvPicPr>
          <p:cNvPr id="41" name="Image 4" descr="/home/claude/icons/terraform.png">    </p:cNvPr>
          <p:cNvPicPr>
            <a:picLocks noChangeAspect="1"/>
          </p:cNvPicPr>
          <p:nvPr/>
        </p:nvPicPr>
        <p:blipFill>
          <a:blip r:embed="rId5"/>
          <a:stretch>
            <a:fillRect/>
          </a:stretch>
        </p:blipFill>
        <p:spPr>
          <a:xfrm>
            <a:off x="9354312" y="4402836"/>
            <a:ext cx="337857" cy="384048"/>
          </a:xfrm>
          <a:prstGeom prst="rect">
            <a:avLst/>
          </a:prstGeom>
        </p:spPr>
      </p:pic>
      <p:sp>
        <p:nvSpPr>
          <p:cNvPr id="42" name="Text 35"/>
          <p:cNvSpPr txBox="1"/>
          <p:nvPr/>
        </p:nvSpPr>
        <p:spPr>
          <a:xfrm>
            <a:off x="9838473" y="4206240"/>
            <a:ext cx="1362927" cy="777240"/>
          </a:xfrm>
          <a:prstGeom prst="rect">
            <a:avLst/>
          </a:prstGeom>
          <a:noFill/>
          <a:ln/>
        </p:spPr>
        <p:txBody>
          <a:bodyPr wrap="square" lIns="0" tIns="0" rIns="0" bIns="0" rtlCol="0" anchor="ctr"/>
          <a:lstStyle/>
          <a:p>
            <a:pPr algn="l" indent="0" marL="0">
              <a:buNone/>
            </a:pPr>
            <a:r>
              <a:rPr lang="en-US" sz="1250" b="1" dirty="0">
                <a:solidFill>
                  <a:srgbClr val="0F4C7A"/>
                </a:solidFill>
              </a:rPr>
              <a:t>Terraform</a:t>
            </a:r>
            <a:endParaRPr lang="en-US" sz="1250" dirty="0"/>
          </a:p>
          <a:p>
            <a:pPr algn="l" indent="0" marL="0">
              <a:buNone/>
            </a:pPr>
            <a:r>
              <a:rPr lang="en-US" sz="900" dirty="0">
                <a:solidFill>
                  <a:srgbClr val="1C6EA8"/>
                </a:solidFill>
              </a:rPr>
              <a:t>deploy</a:t>
            </a:r>
            <a:endParaRPr lang="en-US" sz="1250" dirty="0"/>
          </a:p>
        </p:txBody>
      </p:sp>
      <p:sp>
        <p:nvSpPr>
          <p:cNvPr id="43" name="Shape 36"/>
          <p:cNvSpPr/>
          <p:nvPr/>
        </p:nvSpPr>
        <p:spPr>
          <a:xfrm>
            <a:off x="3017520" y="4594860"/>
            <a:ext cx="502920" cy="0"/>
          </a:xfrm>
          <a:prstGeom prst="line">
            <a:avLst/>
          </a:prstGeom>
          <a:noFill/>
          <a:ln w="19050">
            <a:solidFill>
              <a:srgbClr val="5F6E7A"/>
            </a:solidFill>
            <a:prstDash val="solid"/>
            <a:tailEnd type="triangle"/>
          </a:ln>
        </p:spPr>
      </p:sp>
      <p:sp>
        <p:nvSpPr>
          <p:cNvPr id="44" name="Shape 37"/>
          <p:cNvSpPr/>
          <p:nvPr/>
        </p:nvSpPr>
        <p:spPr>
          <a:xfrm>
            <a:off x="6080760" y="4594860"/>
            <a:ext cx="502920" cy="0"/>
          </a:xfrm>
          <a:prstGeom prst="line">
            <a:avLst/>
          </a:prstGeom>
          <a:noFill/>
          <a:ln w="19050">
            <a:solidFill>
              <a:srgbClr val="5F6E7A"/>
            </a:solidFill>
            <a:prstDash val="solid"/>
            <a:tailEnd type="triangle"/>
          </a:ln>
        </p:spPr>
      </p:sp>
      <p:sp>
        <p:nvSpPr>
          <p:cNvPr id="45" name="Shape 38"/>
          <p:cNvSpPr/>
          <p:nvPr/>
        </p:nvSpPr>
        <p:spPr>
          <a:xfrm>
            <a:off x="8686800" y="4594860"/>
            <a:ext cx="502920" cy="0"/>
          </a:xfrm>
          <a:prstGeom prst="line">
            <a:avLst/>
          </a:prstGeom>
          <a:noFill/>
          <a:ln w="19050">
            <a:solidFill>
              <a:srgbClr val="5F6E7A"/>
            </a:solidFill>
            <a:prstDash val="solid"/>
            <a:tailEnd type="triangle"/>
          </a:ln>
        </p:spPr>
      </p:sp>
      <p:sp>
        <p:nvSpPr>
          <p:cNvPr id="46" name="Shape 39"/>
          <p:cNvSpPr/>
          <p:nvPr/>
        </p:nvSpPr>
        <p:spPr>
          <a:xfrm>
            <a:off x="457200" y="5257800"/>
            <a:ext cx="11247120" cy="502920"/>
          </a:xfrm>
          <a:prstGeom prst="roundRect">
            <a:avLst>
              <a:gd name="adj" fmla="val 10909"/>
            </a:avLst>
          </a:prstGeom>
          <a:solidFill>
            <a:srgbClr val="E4F1FB"/>
          </a:solidFill>
          <a:ln w="12700">
            <a:solidFill>
              <a:srgbClr val="3291D6"/>
            </a:solidFill>
            <a:prstDash val="solid"/>
          </a:ln>
        </p:spPr>
      </p:sp>
      <p:sp>
        <p:nvSpPr>
          <p:cNvPr id="47" name="Text 40"/>
          <p:cNvSpPr txBox="1"/>
          <p:nvPr/>
        </p:nvSpPr>
        <p:spPr>
          <a:xfrm>
            <a:off x="731520" y="5257800"/>
            <a:ext cx="10698480" cy="502920"/>
          </a:xfrm>
          <a:prstGeom prst="rect">
            <a:avLst/>
          </a:prstGeom>
          <a:noFill/>
          <a:ln/>
        </p:spPr>
        <p:txBody>
          <a:bodyPr wrap="square" lIns="0" tIns="0" rIns="0" bIns="0" rtlCol="0" anchor="ctr"/>
          <a:lstStyle/>
          <a:p>
            <a:pPr algn="l" indent="0" marL="0">
              <a:buNone/>
            </a:pPr>
            <a:r>
              <a:rPr lang="en-US" sz="1350" b="1" dirty="0">
                <a:solidFill>
                  <a:srgbClr val="0F4C7A"/>
                </a:solidFill>
              </a:rPr>
              <a:t>Observability     </a:t>
            </a:r>
            <a:pPr algn="l" indent="0" marL="0">
              <a:buNone/>
            </a:pPr>
            <a:r>
              <a:rPr lang="en-US" sz="1200" dirty="0">
                <a:solidFill>
                  <a:srgbClr val="1C6EA8"/>
                </a:solidFill>
              </a:rPr>
              <a:t>Structured logs (correlation_id)  ·  monitoring  ·  actionable alerting  ·  dbt lineage</a:t>
            </a:r>
            <a:endParaRPr lang="en-US" sz="1350" dirty="0"/>
          </a:p>
        </p:txBody>
      </p:sp>
      <p:sp>
        <p:nvSpPr>
          <p:cNvPr id="48" name="Shape 41"/>
          <p:cNvSpPr/>
          <p:nvPr/>
        </p:nvSpPr>
        <p:spPr>
          <a:xfrm>
            <a:off x="457200" y="5961888"/>
            <a:ext cx="219456" cy="219456"/>
          </a:xfrm>
          <a:prstGeom prst="roundRect">
            <a:avLst>
              <a:gd name="adj" fmla="val 12500"/>
            </a:avLst>
          </a:prstGeom>
          <a:solidFill>
            <a:srgbClr val="E4F1FB"/>
          </a:solidFill>
          <a:ln w="12700">
            <a:solidFill>
              <a:srgbClr val="3291D6"/>
            </a:solidFill>
            <a:prstDash val="solid"/>
          </a:ln>
        </p:spPr>
      </p:sp>
      <p:sp>
        <p:nvSpPr>
          <p:cNvPr id="49" name="Text 42"/>
          <p:cNvSpPr txBox="1"/>
          <p:nvPr/>
        </p:nvSpPr>
        <p:spPr>
          <a:xfrm>
            <a:off x="749808" y="5907024"/>
            <a:ext cx="3200400" cy="329184"/>
          </a:xfrm>
          <a:prstGeom prst="rect">
            <a:avLst/>
          </a:prstGeom>
          <a:noFill/>
          <a:ln/>
        </p:spPr>
        <p:txBody>
          <a:bodyPr wrap="square" lIns="0" tIns="0" rIns="0" bIns="0" rtlCol="0" anchor="ctr"/>
          <a:lstStyle/>
          <a:p>
            <a:pPr indent="0" marL="0">
              <a:buNone/>
            </a:pPr>
            <a:r>
              <a:rPr lang="en-US" sz="1100" dirty="0">
                <a:solidFill>
                  <a:srgbClr val="14344F"/>
                </a:solidFill>
              </a:rPr>
              <a:t>New / improved in this MVP</a:t>
            </a:r>
            <a:endParaRPr lang="en-US" sz="1100" dirty="0"/>
          </a:p>
        </p:txBody>
      </p:sp>
      <p:sp>
        <p:nvSpPr>
          <p:cNvPr id="50" name="Shape 43"/>
          <p:cNvSpPr/>
          <p:nvPr/>
        </p:nvSpPr>
        <p:spPr>
          <a:xfrm>
            <a:off x="4206240" y="5961888"/>
            <a:ext cx="219456" cy="219456"/>
          </a:xfrm>
          <a:prstGeom prst="roundRect">
            <a:avLst>
              <a:gd name="adj" fmla="val 12500"/>
            </a:avLst>
          </a:prstGeom>
          <a:solidFill>
            <a:srgbClr val="F1EFE8"/>
          </a:solidFill>
          <a:ln w="12700">
            <a:solidFill>
              <a:srgbClr val="888780"/>
            </a:solidFill>
            <a:prstDash val="solid"/>
          </a:ln>
        </p:spPr>
      </p:sp>
      <p:sp>
        <p:nvSpPr>
          <p:cNvPr id="51" name="Text 44"/>
          <p:cNvSpPr txBox="1"/>
          <p:nvPr/>
        </p:nvSpPr>
        <p:spPr>
          <a:xfrm>
            <a:off x="4498848" y="5907024"/>
            <a:ext cx="2743200" cy="329184"/>
          </a:xfrm>
          <a:prstGeom prst="rect">
            <a:avLst/>
          </a:prstGeom>
          <a:noFill/>
          <a:ln/>
        </p:spPr>
        <p:txBody>
          <a:bodyPr wrap="square" lIns="0" tIns="0" rIns="0" bIns="0" rtlCol="0" anchor="ctr"/>
          <a:lstStyle/>
          <a:p>
            <a:pPr indent="0" marL="0">
              <a:buNone/>
            </a:pPr>
            <a:r>
              <a:rPr lang="en-US" sz="1100" dirty="0">
                <a:solidFill>
                  <a:srgbClr val="14344F"/>
                </a:solidFill>
              </a:rPr>
              <a:t>Existing / external</a:t>
            </a:r>
            <a:endParaRPr lang="en-US" sz="110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9184"/>
            <a:ext cx="11247120" cy="548640"/>
          </a:xfrm>
          <a:prstGeom prst="rect">
            <a:avLst/>
          </a:prstGeom>
          <a:noFill/>
          <a:ln/>
        </p:spPr>
        <p:txBody>
          <a:bodyPr wrap="square" lIns="0" tIns="0" rIns="0" bIns="0" rtlCol="0" anchor="ctr"/>
          <a:lstStyle/>
          <a:p>
            <a:pPr indent="0" marL="0">
              <a:buNone/>
            </a:pPr>
            <a:r>
              <a:rPr lang="en-US" sz="3000" b="1" dirty="0">
                <a:solidFill>
                  <a:srgbClr val="14344F"/>
                </a:solidFill>
              </a:rPr>
              <a:t>What you'll see — live</a:t>
            </a:r>
            <a:endParaRPr lang="en-US" sz="3000" dirty="0"/>
          </a:p>
        </p:txBody>
      </p:sp>
      <p:sp>
        <p:nvSpPr>
          <p:cNvPr id="3" name="Text 1"/>
          <p:cNvSpPr txBox="1"/>
          <p:nvPr/>
        </p:nvSpPr>
        <p:spPr>
          <a:xfrm>
            <a:off x="475488" y="896112"/>
            <a:ext cx="11247120" cy="320040"/>
          </a:xfrm>
          <a:prstGeom prst="rect">
            <a:avLst/>
          </a:prstGeom>
          <a:noFill/>
          <a:ln/>
        </p:spPr>
        <p:txBody>
          <a:bodyPr wrap="square" lIns="0" tIns="0" rIns="0" bIns="0" rtlCol="0" anchor="ctr"/>
          <a:lstStyle/>
          <a:p>
            <a:pPr indent="0" marL="0">
              <a:buNone/>
            </a:pPr>
            <a:r>
              <a:rPr lang="en-US" sz="1350" dirty="0">
                <a:solidFill>
                  <a:srgbClr val="5B6B79"/>
                </a:solidFill>
              </a:rPr>
              <a:t>One change, followed from commit to curated data.</a:t>
            </a:r>
            <a:endParaRPr lang="en-US" sz="1350" dirty="0"/>
          </a:p>
        </p:txBody>
      </p:sp>
      <p:sp>
        <p:nvSpPr>
          <p:cNvPr id="4" name="Shape 2"/>
          <p:cNvSpPr/>
          <p:nvPr/>
        </p:nvSpPr>
        <p:spPr>
          <a:xfrm>
            <a:off x="548640" y="1435608"/>
            <a:ext cx="420624" cy="420624"/>
          </a:xfrm>
          <a:prstGeom prst="ellipse">
            <a:avLst/>
          </a:prstGeom>
          <a:solidFill>
            <a:srgbClr val="1C6EA8"/>
          </a:solidFill>
          <a:ln w="12700">
            <a:solidFill>
              <a:srgbClr val="1C6EA8"/>
            </a:solidFill>
            <a:prstDash val="solid"/>
          </a:ln>
        </p:spPr>
      </p:sp>
      <p:sp>
        <p:nvSpPr>
          <p:cNvPr id="5" name="Text 3"/>
          <p:cNvSpPr txBox="1"/>
          <p:nvPr/>
        </p:nvSpPr>
        <p:spPr>
          <a:xfrm>
            <a:off x="548640" y="14356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88720" y="1371600"/>
            <a:ext cx="10424160" cy="548640"/>
          </a:xfrm>
          <a:prstGeom prst="rect">
            <a:avLst/>
          </a:prstGeom>
          <a:noFill/>
          <a:ln/>
        </p:spPr>
        <p:txBody>
          <a:bodyPr wrap="square" lIns="0" tIns="0" rIns="0" bIns="0" rtlCol="0" anchor="ctr"/>
          <a:lstStyle/>
          <a:p>
            <a:pPr algn="l" indent="0" marL="0">
              <a:buNone/>
            </a:pPr>
            <a:r>
              <a:rPr lang="en-US" sz="1500" b="1" dirty="0">
                <a:solidFill>
                  <a:srgbClr val="14344F"/>
                </a:solidFill>
              </a:rPr>
              <a:t>Commit &amp; merge   </a:t>
            </a:r>
            <a:pPr algn="l" indent="0" marL="0">
              <a:buNone/>
            </a:pPr>
            <a:r>
              <a:rPr lang="en-US" sz="1300" dirty="0">
                <a:solidFill>
                  <a:srgbClr val="5B6B79"/>
                </a:solidFill>
              </a:rPr>
              <a:t>A small change goes up as a pull request and merges to main.</a:t>
            </a:r>
            <a:endParaRPr lang="en-US" sz="1500" dirty="0"/>
          </a:p>
        </p:txBody>
      </p:sp>
      <p:sp>
        <p:nvSpPr>
          <p:cNvPr id="7" name="Shape 5"/>
          <p:cNvSpPr/>
          <p:nvPr/>
        </p:nvSpPr>
        <p:spPr>
          <a:xfrm>
            <a:off x="548640" y="2066544"/>
            <a:ext cx="420624" cy="420624"/>
          </a:xfrm>
          <a:prstGeom prst="ellipse">
            <a:avLst/>
          </a:prstGeom>
          <a:solidFill>
            <a:srgbClr val="1C6EA8"/>
          </a:solidFill>
          <a:ln w="12700">
            <a:solidFill>
              <a:srgbClr val="1C6EA8"/>
            </a:solidFill>
            <a:prstDash val="solid"/>
          </a:ln>
        </p:spPr>
      </p:sp>
      <p:sp>
        <p:nvSpPr>
          <p:cNvPr id="8" name="Text 6"/>
          <p:cNvSpPr txBox="1"/>
          <p:nvPr/>
        </p:nvSpPr>
        <p:spPr>
          <a:xfrm>
            <a:off x="548640" y="2066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88720" y="2002536"/>
            <a:ext cx="10424160" cy="548640"/>
          </a:xfrm>
          <a:prstGeom prst="rect">
            <a:avLst/>
          </a:prstGeom>
          <a:noFill/>
          <a:ln/>
        </p:spPr>
        <p:txBody>
          <a:bodyPr wrap="square" lIns="0" tIns="0" rIns="0" bIns="0" rtlCol="0" anchor="ctr"/>
          <a:lstStyle/>
          <a:p>
            <a:pPr algn="l" indent="0" marL="0">
              <a:buNone/>
            </a:pPr>
            <a:r>
              <a:rPr lang="en-US" sz="1500" b="1" dirty="0">
                <a:solidFill>
                  <a:srgbClr val="14344F"/>
                </a:solidFill>
              </a:rPr>
              <a:t>Build &amp; deploy   </a:t>
            </a:r>
            <a:pPr algn="l" indent="0" marL="0">
              <a:buNone/>
            </a:pPr>
            <a:r>
              <a:rPr lang="en-US" sz="1300" dirty="0">
                <a:solidFill>
                  <a:srgbClr val="5B6B79"/>
                </a:solidFill>
              </a:rPr>
              <a:t>GitHub Actions pulls from JFrog; Terraform provisions and deploys — no console access.</a:t>
            </a:r>
            <a:endParaRPr lang="en-US" sz="1500" dirty="0"/>
          </a:p>
        </p:txBody>
      </p:sp>
      <p:sp>
        <p:nvSpPr>
          <p:cNvPr id="10" name="Shape 8"/>
          <p:cNvSpPr/>
          <p:nvPr/>
        </p:nvSpPr>
        <p:spPr>
          <a:xfrm>
            <a:off x="548640" y="2697480"/>
            <a:ext cx="420624" cy="420624"/>
          </a:xfrm>
          <a:prstGeom prst="ellipse">
            <a:avLst/>
          </a:prstGeom>
          <a:solidFill>
            <a:srgbClr val="1C6EA8"/>
          </a:solidFill>
          <a:ln w="12700">
            <a:solidFill>
              <a:srgbClr val="1C6EA8"/>
            </a:solidFill>
            <a:prstDash val="solid"/>
          </a:ln>
        </p:spPr>
      </p:sp>
      <p:sp>
        <p:nvSpPr>
          <p:cNvPr id="11" name="Text 9"/>
          <p:cNvSpPr txBox="1"/>
          <p:nvPr/>
        </p:nvSpPr>
        <p:spPr>
          <a:xfrm>
            <a:off x="548640" y="269748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88720" y="2633472"/>
            <a:ext cx="10424160" cy="548640"/>
          </a:xfrm>
          <a:prstGeom prst="rect">
            <a:avLst/>
          </a:prstGeom>
          <a:noFill/>
          <a:ln/>
        </p:spPr>
        <p:txBody>
          <a:bodyPr wrap="square" lIns="0" tIns="0" rIns="0" bIns="0" rtlCol="0" anchor="ctr"/>
          <a:lstStyle/>
          <a:p>
            <a:pPr algn="l" indent="0" marL="0">
              <a:buNone/>
            </a:pPr>
            <a:r>
              <a:rPr lang="en-US" sz="1500" b="1" dirty="0">
                <a:solidFill>
                  <a:srgbClr val="14344F"/>
                </a:solidFill>
              </a:rPr>
              <a:t>Orchestrate   </a:t>
            </a:r>
            <a:pPr algn="l" indent="0" marL="0">
              <a:buNone/>
            </a:pPr>
            <a:r>
              <a:rPr lang="en-US" sz="1300" dirty="0">
                <a:solidFill>
                  <a:srgbClr val="5B6B79"/>
                </a:solidFill>
              </a:rPr>
              <a:t>Composer picks up the change and triggers the DAG.</a:t>
            </a:r>
            <a:endParaRPr lang="en-US" sz="1500" dirty="0"/>
          </a:p>
        </p:txBody>
      </p:sp>
      <p:sp>
        <p:nvSpPr>
          <p:cNvPr id="13" name="Shape 11"/>
          <p:cNvSpPr/>
          <p:nvPr/>
        </p:nvSpPr>
        <p:spPr>
          <a:xfrm>
            <a:off x="548640" y="3328416"/>
            <a:ext cx="420624" cy="420624"/>
          </a:xfrm>
          <a:prstGeom prst="ellipse">
            <a:avLst/>
          </a:prstGeom>
          <a:solidFill>
            <a:srgbClr val="1C6EA8"/>
          </a:solidFill>
          <a:ln w="12700">
            <a:solidFill>
              <a:srgbClr val="1C6EA8"/>
            </a:solidFill>
            <a:prstDash val="solid"/>
          </a:ln>
        </p:spPr>
      </p:sp>
      <p:sp>
        <p:nvSpPr>
          <p:cNvPr id="14" name="Text 12"/>
          <p:cNvSpPr txBox="1"/>
          <p:nvPr/>
        </p:nvSpPr>
        <p:spPr>
          <a:xfrm>
            <a:off x="548640" y="332841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88720" y="3264408"/>
            <a:ext cx="10424160" cy="548640"/>
          </a:xfrm>
          <a:prstGeom prst="rect">
            <a:avLst/>
          </a:prstGeom>
          <a:noFill/>
          <a:ln/>
        </p:spPr>
        <p:txBody>
          <a:bodyPr wrap="square" lIns="0" tIns="0" rIns="0" bIns="0" rtlCol="0" anchor="ctr"/>
          <a:lstStyle/>
          <a:p>
            <a:pPr algn="l" indent="0" marL="0">
              <a:buNone/>
            </a:pPr>
            <a:r>
              <a:rPr lang="en-US" sz="1500" b="1" dirty="0">
                <a:solidFill>
                  <a:srgbClr val="14344F"/>
                </a:solidFill>
              </a:rPr>
              <a:t>Ingest in parallel   </a:t>
            </a:r>
            <a:pPr algn="l" indent="0" marL="0">
              <a:buNone/>
            </a:pPr>
            <a:r>
              <a:rPr lang="en-US" sz="1300" dirty="0">
                <a:solidFill>
                  <a:srgbClr val="5B6B79"/>
                </a:solidFill>
              </a:rPr>
              <a:t>Source extracts load concurrently into raw; Oracle credentials pulled from Secret Manager.</a:t>
            </a:r>
            <a:endParaRPr lang="en-US" sz="1500" dirty="0"/>
          </a:p>
        </p:txBody>
      </p:sp>
      <p:sp>
        <p:nvSpPr>
          <p:cNvPr id="16" name="Shape 14"/>
          <p:cNvSpPr/>
          <p:nvPr/>
        </p:nvSpPr>
        <p:spPr>
          <a:xfrm>
            <a:off x="548640" y="3959352"/>
            <a:ext cx="420624" cy="420624"/>
          </a:xfrm>
          <a:prstGeom prst="ellipse">
            <a:avLst/>
          </a:prstGeom>
          <a:solidFill>
            <a:srgbClr val="1C6EA8"/>
          </a:solidFill>
          <a:ln w="12700">
            <a:solidFill>
              <a:srgbClr val="1C6EA8"/>
            </a:solidFill>
            <a:prstDash val="solid"/>
          </a:ln>
        </p:spPr>
      </p:sp>
      <p:sp>
        <p:nvSpPr>
          <p:cNvPr id="17" name="Text 15"/>
          <p:cNvSpPr txBox="1"/>
          <p:nvPr/>
        </p:nvSpPr>
        <p:spPr>
          <a:xfrm>
            <a:off x="548640" y="39593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88720" y="3895344"/>
            <a:ext cx="10424160" cy="548640"/>
          </a:xfrm>
          <a:prstGeom prst="rect">
            <a:avLst/>
          </a:prstGeom>
          <a:noFill/>
          <a:ln/>
        </p:spPr>
        <p:txBody>
          <a:bodyPr wrap="square" lIns="0" tIns="0" rIns="0" bIns="0" rtlCol="0" anchor="ctr"/>
          <a:lstStyle/>
          <a:p>
            <a:pPr algn="l" indent="0" marL="0">
              <a:buNone/>
            </a:pPr>
            <a:r>
              <a:rPr lang="en-US" sz="1500" b="1" dirty="0">
                <a:solidFill>
                  <a:srgbClr val="14344F"/>
                </a:solidFill>
              </a:rPr>
              <a:t>Transform   </a:t>
            </a:r>
            <a:pPr algn="l" indent="0" marL="0">
              <a:buNone/>
            </a:pPr>
            <a:r>
              <a:rPr lang="en-US" sz="1300" dirty="0">
                <a:solidFill>
                  <a:srgbClr val="5B6B79"/>
                </a:solidFill>
              </a:rPr>
              <a:t>dbt runs raw → staging → curated via BashOperator; lineage is captured.</a:t>
            </a:r>
            <a:endParaRPr lang="en-US" sz="1500" dirty="0"/>
          </a:p>
        </p:txBody>
      </p:sp>
      <p:sp>
        <p:nvSpPr>
          <p:cNvPr id="19" name="Shape 17"/>
          <p:cNvSpPr/>
          <p:nvPr/>
        </p:nvSpPr>
        <p:spPr>
          <a:xfrm>
            <a:off x="548640" y="4590288"/>
            <a:ext cx="420624" cy="420624"/>
          </a:xfrm>
          <a:prstGeom prst="ellipse">
            <a:avLst/>
          </a:prstGeom>
          <a:solidFill>
            <a:srgbClr val="1C6EA8"/>
          </a:solidFill>
          <a:ln w="12700">
            <a:solidFill>
              <a:srgbClr val="1C6EA8"/>
            </a:solidFill>
            <a:prstDash val="solid"/>
          </a:ln>
        </p:spPr>
      </p:sp>
      <p:sp>
        <p:nvSpPr>
          <p:cNvPr id="20" name="Text 18"/>
          <p:cNvSpPr txBox="1"/>
          <p:nvPr/>
        </p:nvSpPr>
        <p:spPr>
          <a:xfrm>
            <a:off x="548640" y="45902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1188720" y="4526280"/>
            <a:ext cx="10424160" cy="548640"/>
          </a:xfrm>
          <a:prstGeom prst="rect">
            <a:avLst/>
          </a:prstGeom>
          <a:noFill/>
          <a:ln/>
        </p:spPr>
        <p:txBody>
          <a:bodyPr wrap="square" lIns="0" tIns="0" rIns="0" bIns="0" rtlCol="0" anchor="ctr"/>
          <a:lstStyle/>
          <a:p>
            <a:pPr algn="l" indent="0" marL="0">
              <a:buNone/>
            </a:pPr>
            <a:r>
              <a:rPr lang="en-US" sz="1500" b="1" dirty="0">
                <a:solidFill>
                  <a:srgbClr val="14344F"/>
                </a:solidFill>
              </a:rPr>
              <a:t>Observe   </a:t>
            </a:r>
            <a:pPr algn="l" indent="0" marL="0">
              <a:buNone/>
            </a:pPr>
            <a:r>
              <a:rPr lang="en-US" sz="1300" dirty="0">
                <a:solidFill>
                  <a:srgbClr val="5B6B79"/>
                </a:solidFill>
              </a:rPr>
              <a:t>Structured logs (correlation_id), monitoring, alerting and lineage confirm the run.</a:t>
            </a:r>
            <a:endParaRPr lang="en-US" sz="1500" dirty="0"/>
          </a:p>
        </p:txBody>
      </p:sp>
      <p:sp>
        <p:nvSpPr>
          <p:cNvPr id="22" name="Shape 20"/>
          <p:cNvSpPr/>
          <p:nvPr/>
        </p:nvSpPr>
        <p:spPr>
          <a:xfrm>
            <a:off x="457200" y="5266944"/>
            <a:ext cx="11247120" cy="777240"/>
          </a:xfrm>
          <a:prstGeom prst="roundRect">
            <a:avLst>
              <a:gd name="adj" fmla="val 9412"/>
            </a:avLst>
          </a:prstGeom>
          <a:solidFill>
            <a:srgbClr val="E4F1FB"/>
          </a:solidFill>
          <a:ln w="12700">
            <a:solidFill>
              <a:srgbClr val="3291D6"/>
            </a:solidFill>
            <a:prstDash val="solid"/>
          </a:ln>
        </p:spPr>
      </p:sp>
      <p:sp>
        <p:nvSpPr>
          <p:cNvPr id="23" name="Text 21"/>
          <p:cNvSpPr txBox="1"/>
          <p:nvPr/>
        </p:nvSpPr>
        <p:spPr>
          <a:xfrm>
            <a:off x="731520" y="5266944"/>
            <a:ext cx="10698480" cy="777240"/>
          </a:xfrm>
          <a:prstGeom prst="rect">
            <a:avLst/>
          </a:prstGeom>
          <a:noFill/>
          <a:ln/>
        </p:spPr>
        <p:txBody>
          <a:bodyPr wrap="square" lIns="0" tIns="0" rIns="0" bIns="0" rtlCol="0" anchor="ctr"/>
          <a:lstStyle/>
          <a:p>
            <a:pPr algn="l" indent="0" marL="0">
              <a:buNone/>
            </a:pPr>
            <a:r>
              <a:rPr lang="en-US" sz="1400" b="1" dirty="0">
                <a:solidFill>
                  <a:srgbClr val="0F4C7A"/>
                </a:solidFill>
              </a:rPr>
              <a:t>Watch for:  </a:t>
            </a:r>
            <a:pPr algn="l" indent="0" marL="0">
              <a:buNone/>
            </a:pPr>
            <a:r>
              <a:rPr lang="en-US" sz="1350" dirty="0">
                <a:solidFill>
                  <a:srgbClr val="0F4C7A"/>
                </a:solidFill>
              </a:rPr>
              <a:t>a deliberate source failure — the alert fires and dbt does not run, so no partial data reaches consumers.</a:t>
            </a:r>
            <a:endParaRPr lang="en-US" sz="140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9184"/>
            <a:ext cx="11247120" cy="548640"/>
          </a:xfrm>
          <a:prstGeom prst="rect">
            <a:avLst/>
          </a:prstGeom>
          <a:noFill/>
          <a:ln/>
        </p:spPr>
        <p:txBody>
          <a:bodyPr wrap="square" lIns="0" tIns="0" rIns="0" bIns="0" rtlCol="0" anchor="ctr"/>
          <a:lstStyle/>
          <a:p>
            <a:pPr indent="0" marL="0">
              <a:buNone/>
            </a:pPr>
            <a:r>
              <a:rPr lang="en-US" sz="3000" b="1" dirty="0">
                <a:solidFill>
                  <a:srgbClr val="14344F"/>
                </a:solidFill>
              </a:rPr>
              <a:t>What's next</a:t>
            </a:r>
            <a:endParaRPr lang="en-US" sz="3000" dirty="0"/>
          </a:p>
        </p:txBody>
      </p:sp>
      <p:sp>
        <p:nvSpPr>
          <p:cNvPr id="3" name="Text 1"/>
          <p:cNvSpPr txBox="1"/>
          <p:nvPr/>
        </p:nvSpPr>
        <p:spPr>
          <a:xfrm>
            <a:off x="475488" y="896112"/>
            <a:ext cx="11247120" cy="320040"/>
          </a:xfrm>
          <a:prstGeom prst="rect">
            <a:avLst/>
          </a:prstGeom>
          <a:noFill/>
          <a:ln/>
        </p:spPr>
        <p:txBody>
          <a:bodyPr wrap="square" lIns="0" tIns="0" rIns="0" bIns="0" rtlCol="0" anchor="ctr"/>
          <a:lstStyle/>
          <a:p>
            <a:pPr indent="0" marL="0">
              <a:buNone/>
            </a:pPr>
            <a:r>
              <a:rPr lang="en-US" sz="1350" dirty="0">
                <a:solidFill>
                  <a:srgbClr val="5B6B79"/>
                </a:solidFill>
              </a:rPr>
              <a:t>New workstreams beyond this MVP.</a:t>
            </a:r>
            <a:endParaRPr lang="en-US" sz="1350" dirty="0"/>
          </a:p>
        </p:txBody>
      </p:sp>
      <p:sp>
        <p:nvSpPr>
          <p:cNvPr id="4" name="Shape 2"/>
          <p:cNvSpPr/>
          <p:nvPr/>
        </p:nvSpPr>
        <p:spPr>
          <a:xfrm>
            <a:off x="457200" y="1554480"/>
            <a:ext cx="5394960" cy="1828800"/>
          </a:xfrm>
          <a:prstGeom prst="roundRect">
            <a:avLst>
              <a:gd name="adj" fmla="val 5000"/>
            </a:avLst>
          </a:prstGeom>
          <a:solidFill>
            <a:srgbClr val="F1F7FD"/>
          </a:solidFill>
          <a:ln w="12700">
            <a:solidFill>
              <a:srgbClr val="E4F1FB"/>
            </a:solidFill>
            <a:prstDash val="solid"/>
          </a:ln>
        </p:spPr>
      </p:sp>
      <p:sp>
        <p:nvSpPr>
          <p:cNvPr id="5" name="Shape 3"/>
          <p:cNvSpPr/>
          <p:nvPr/>
        </p:nvSpPr>
        <p:spPr>
          <a:xfrm>
            <a:off x="822960" y="1874520"/>
            <a:ext cx="310896" cy="310896"/>
          </a:xfrm>
          <a:prstGeom prst="roundRect">
            <a:avLst>
              <a:gd name="adj" fmla="val 17647"/>
            </a:avLst>
          </a:prstGeom>
          <a:solidFill>
            <a:srgbClr val="1C6EA8"/>
          </a:solidFill>
          <a:ln w="12700">
            <a:solidFill>
              <a:srgbClr val="1C6EA8"/>
            </a:solidFill>
            <a:prstDash val="solid"/>
          </a:ln>
        </p:spPr>
      </p:sp>
      <p:sp>
        <p:nvSpPr>
          <p:cNvPr id="6" name="Text 4"/>
          <p:cNvSpPr txBox="1"/>
          <p:nvPr/>
        </p:nvSpPr>
        <p:spPr>
          <a:xfrm>
            <a:off x="1280160" y="1847088"/>
            <a:ext cx="4206240" cy="411480"/>
          </a:xfrm>
          <a:prstGeom prst="rect">
            <a:avLst/>
          </a:prstGeom>
          <a:noFill/>
          <a:ln/>
        </p:spPr>
        <p:txBody>
          <a:bodyPr wrap="square" lIns="0" tIns="0" rIns="0" bIns="0" rtlCol="0" anchor="ctr"/>
          <a:lstStyle/>
          <a:p>
            <a:pPr indent="0" marL="0">
              <a:buNone/>
            </a:pPr>
            <a:r>
              <a:rPr lang="en-US" sz="1700" b="1" dirty="0">
                <a:solidFill>
                  <a:srgbClr val="14344F"/>
                </a:solidFill>
              </a:rPr>
              <a:t>Source interfaces</a:t>
            </a:r>
            <a:endParaRPr lang="en-US" sz="1700" dirty="0"/>
          </a:p>
        </p:txBody>
      </p:sp>
      <p:sp>
        <p:nvSpPr>
          <p:cNvPr id="7" name="Text 5"/>
          <p:cNvSpPr txBox="1"/>
          <p:nvPr/>
        </p:nvSpPr>
        <p:spPr>
          <a:xfrm>
            <a:off x="822960" y="2423160"/>
            <a:ext cx="4663440" cy="822960"/>
          </a:xfrm>
          <a:prstGeom prst="rect">
            <a:avLst/>
          </a:prstGeom>
          <a:noFill/>
          <a:ln/>
        </p:spPr>
        <p:txBody>
          <a:bodyPr wrap="square" lIns="0" tIns="0" rIns="0" bIns="0" rtlCol="0" anchor="t"/>
          <a:lstStyle/>
          <a:p>
            <a:pPr indent="0" marL="0">
              <a:buNone/>
            </a:pPr>
            <a:r>
              <a:rPr lang="en-US" sz="1300" dirty="0">
                <a:solidFill>
                  <a:srgbClr val="5B6B79"/>
                </a:solidFill>
              </a:rPr>
              <a:t>Build ingestion interfaces for the remaining source systems.</a:t>
            </a:r>
            <a:endParaRPr lang="en-US" sz="1300" dirty="0"/>
          </a:p>
        </p:txBody>
      </p:sp>
      <p:sp>
        <p:nvSpPr>
          <p:cNvPr id="8" name="Shape 6"/>
          <p:cNvSpPr/>
          <p:nvPr/>
        </p:nvSpPr>
        <p:spPr>
          <a:xfrm>
            <a:off x="6309360" y="1554480"/>
            <a:ext cx="5394960" cy="1828800"/>
          </a:xfrm>
          <a:prstGeom prst="roundRect">
            <a:avLst>
              <a:gd name="adj" fmla="val 5000"/>
            </a:avLst>
          </a:prstGeom>
          <a:solidFill>
            <a:srgbClr val="F1F7FD"/>
          </a:solidFill>
          <a:ln w="12700">
            <a:solidFill>
              <a:srgbClr val="E4F1FB"/>
            </a:solidFill>
            <a:prstDash val="solid"/>
          </a:ln>
        </p:spPr>
      </p:sp>
      <p:sp>
        <p:nvSpPr>
          <p:cNvPr id="9" name="Shape 7"/>
          <p:cNvSpPr/>
          <p:nvPr/>
        </p:nvSpPr>
        <p:spPr>
          <a:xfrm>
            <a:off x="6675120" y="1874520"/>
            <a:ext cx="310896" cy="310896"/>
          </a:xfrm>
          <a:prstGeom prst="roundRect">
            <a:avLst>
              <a:gd name="adj" fmla="val 17647"/>
            </a:avLst>
          </a:prstGeom>
          <a:solidFill>
            <a:srgbClr val="1C6EA8"/>
          </a:solidFill>
          <a:ln w="12700">
            <a:solidFill>
              <a:srgbClr val="1C6EA8"/>
            </a:solidFill>
            <a:prstDash val="solid"/>
          </a:ln>
        </p:spPr>
      </p:sp>
      <p:sp>
        <p:nvSpPr>
          <p:cNvPr id="10" name="Text 8"/>
          <p:cNvSpPr txBox="1"/>
          <p:nvPr/>
        </p:nvSpPr>
        <p:spPr>
          <a:xfrm>
            <a:off x="7132320" y="1847088"/>
            <a:ext cx="4206240" cy="411480"/>
          </a:xfrm>
          <a:prstGeom prst="rect">
            <a:avLst/>
          </a:prstGeom>
          <a:noFill/>
          <a:ln/>
        </p:spPr>
        <p:txBody>
          <a:bodyPr wrap="square" lIns="0" tIns="0" rIns="0" bIns="0" rtlCol="0" anchor="ctr"/>
          <a:lstStyle/>
          <a:p>
            <a:pPr indent="0" marL="0">
              <a:buNone/>
            </a:pPr>
            <a:r>
              <a:rPr lang="en-US" sz="1700" b="1" dirty="0">
                <a:solidFill>
                  <a:srgbClr val="14344F"/>
                </a:solidFill>
              </a:rPr>
              <a:t>SQL Server → BigQuery migration</a:t>
            </a:r>
            <a:endParaRPr lang="en-US" sz="1700" dirty="0"/>
          </a:p>
        </p:txBody>
      </p:sp>
      <p:sp>
        <p:nvSpPr>
          <p:cNvPr id="11" name="Text 9"/>
          <p:cNvSpPr txBox="1"/>
          <p:nvPr/>
        </p:nvSpPr>
        <p:spPr>
          <a:xfrm>
            <a:off x="6675120" y="2423160"/>
            <a:ext cx="4663440" cy="822960"/>
          </a:xfrm>
          <a:prstGeom prst="rect">
            <a:avLst/>
          </a:prstGeom>
          <a:noFill/>
          <a:ln/>
        </p:spPr>
        <p:txBody>
          <a:bodyPr wrap="square" lIns="0" tIns="0" rIns="0" bIns="0" rtlCol="0" anchor="t"/>
          <a:lstStyle/>
          <a:p>
            <a:pPr indent="0" marL="0">
              <a:buNone/>
            </a:pPr>
            <a:r>
              <a:rPr lang="en-US" sz="1300" dirty="0">
                <a:solidFill>
                  <a:srgbClr val="5B6B79"/>
                </a:solidFill>
              </a:rPr>
              <a:t>Migrate the SQL Server estate into BigQuery.</a:t>
            </a:r>
            <a:endParaRPr lang="en-US" sz="1300" dirty="0"/>
          </a:p>
        </p:txBody>
      </p:sp>
      <p:sp>
        <p:nvSpPr>
          <p:cNvPr id="12" name="Shape 10"/>
          <p:cNvSpPr/>
          <p:nvPr/>
        </p:nvSpPr>
        <p:spPr>
          <a:xfrm>
            <a:off x="457200" y="3749040"/>
            <a:ext cx="5394960" cy="1828800"/>
          </a:xfrm>
          <a:prstGeom prst="roundRect">
            <a:avLst>
              <a:gd name="adj" fmla="val 5000"/>
            </a:avLst>
          </a:prstGeom>
          <a:solidFill>
            <a:srgbClr val="F1F7FD"/>
          </a:solidFill>
          <a:ln w="12700">
            <a:solidFill>
              <a:srgbClr val="E4F1FB"/>
            </a:solidFill>
            <a:prstDash val="solid"/>
          </a:ln>
        </p:spPr>
      </p:sp>
      <p:sp>
        <p:nvSpPr>
          <p:cNvPr id="13" name="Shape 11"/>
          <p:cNvSpPr/>
          <p:nvPr/>
        </p:nvSpPr>
        <p:spPr>
          <a:xfrm>
            <a:off x="822960" y="4069080"/>
            <a:ext cx="310896" cy="310896"/>
          </a:xfrm>
          <a:prstGeom prst="roundRect">
            <a:avLst>
              <a:gd name="adj" fmla="val 17647"/>
            </a:avLst>
          </a:prstGeom>
          <a:solidFill>
            <a:srgbClr val="1C6EA8"/>
          </a:solidFill>
          <a:ln w="12700">
            <a:solidFill>
              <a:srgbClr val="1C6EA8"/>
            </a:solidFill>
            <a:prstDash val="solid"/>
          </a:ln>
        </p:spPr>
      </p:sp>
      <p:sp>
        <p:nvSpPr>
          <p:cNvPr id="14" name="Text 12"/>
          <p:cNvSpPr txBox="1"/>
          <p:nvPr/>
        </p:nvSpPr>
        <p:spPr>
          <a:xfrm>
            <a:off x="1280160" y="4041648"/>
            <a:ext cx="4206240" cy="411480"/>
          </a:xfrm>
          <a:prstGeom prst="rect">
            <a:avLst/>
          </a:prstGeom>
          <a:noFill/>
          <a:ln/>
        </p:spPr>
        <p:txBody>
          <a:bodyPr wrap="square" lIns="0" tIns="0" rIns="0" bIns="0" rtlCol="0" anchor="ctr"/>
          <a:lstStyle/>
          <a:p>
            <a:pPr indent="0" marL="0">
              <a:buNone/>
            </a:pPr>
            <a:r>
              <a:rPr lang="en-US" sz="1700" b="1" dirty="0">
                <a:solidFill>
                  <a:srgbClr val="14344F"/>
                </a:solidFill>
              </a:rPr>
              <a:t>UAT landing-zone provisioning</a:t>
            </a:r>
            <a:endParaRPr lang="en-US" sz="1700" dirty="0"/>
          </a:p>
        </p:txBody>
      </p:sp>
      <p:sp>
        <p:nvSpPr>
          <p:cNvPr id="15" name="Text 13"/>
          <p:cNvSpPr txBox="1"/>
          <p:nvPr/>
        </p:nvSpPr>
        <p:spPr>
          <a:xfrm>
            <a:off x="822960" y="4617720"/>
            <a:ext cx="4663440" cy="822960"/>
          </a:xfrm>
          <a:prstGeom prst="rect">
            <a:avLst/>
          </a:prstGeom>
          <a:noFill/>
          <a:ln/>
        </p:spPr>
        <p:txBody>
          <a:bodyPr wrap="square" lIns="0" tIns="0" rIns="0" bIns="0" rtlCol="0" anchor="t"/>
          <a:lstStyle/>
          <a:p>
            <a:pPr indent="0" marL="0">
              <a:buNone/>
            </a:pPr>
            <a:r>
              <a:rPr lang="en-US" sz="1300" dirty="0">
                <a:solidFill>
                  <a:srgbClr val="5B6B79"/>
                </a:solidFill>
              </a:rPr>
              <a:t>Initiate provisioning of the UAT landing zone.</a:t>
            </a:r>
            <a:endParaRPr lang="en-US" sz="1300" dirty="0"/>
          </a:p>
        </p:txBody>
      </p:sp>
      <p:sp>
        <p:nvSpPr>
          <p:cNvPr id="16" name="Shape 14"/>
          <p:cNvSpPr/>
          <p:nvPr/>
        </p:nvSpPr>
        <p:spPr>
          <a:xfrm>
            <a:off x="6309360" y="3749040"/>
            <a:ext cx="5394960" cy="1828800"/>
          </a:xfrm>
          <a:prstGeom prst="roundRect">
            <a:avLst>
              <a:gd name="adj" fmla="val 5000"/>
            </a:avLst>
          </a:prstGeom>
          <a:solidFill>
            <a:srgbClr val="F1F7FD"/>
          </a:solidFill>
          <a:ln w="12700">
            <a:solidFill>
              <a:srgbClr val="E4F1FB"/>
            </a:solidFill>
            <a:prstDash val="solid"/>
          </a:ln>
        </p:spPr>
      </p:sp>
      <p:sp>
        <p:nvSpPr>
          <p:cNvPr id="17" name="Shape 15"/>
          <p:cNvSpPr/>
          <p:nvPr/>
        </p:nvSpPr>
        <p:spPr>
          <a:xfrm>
            <a:off x="6675120" y="4069080"/>
            <a:ext cx="310896" cy="310896"/>
          </a:xfrm>
          <a:prstGeom prst="roundRect">
            <a:avLst>
              <a:gd name="adj" fmla="val 17647"/>
            </a:avLst>
          </a:prstGeom>
          <a:solidFill>
            <a:srgbClr val="1C6EA8"/>
          </a:solidFill>
          <a:ln w="12700">
            <a:solidFill>
              <a:srgbClr val="1C6EA8"/>
            </a:solidFill>
            <a:prstDash val="solid"/>
          </a:ln>
        </p:spPr>
      </p:sp>
      <p:sp>
        <p:nvSpPr>
          <p:cNvPr id="18" name="Text 16"/>
          <p:cNvSpPr txBox="1"/>
          <p:nvPr/>
        </p:nvSpPr>
        <p:spPr>
          <a:xfrm>
            <a:off x="7132320" y="4041648"/>
            <a:ext cx="4206240" cy="411480"/>
          </a:xfrm>
          <a:prstGeom prst="rect">
            <a:avLst/>
          </a:prstGeom>
          <a:noFill/>
          <a:ln/>
        </p:spPr>
        <p:txBody>
          <a:bodyPr wrap="square" lIns="0" tIns="0" rIns="0" bIns="0" rtlCol="0" anchor="ctr"/>
          <a:lstStyle/>
          <a:p>
            <a:pPr indent="0" marL="0">
              <a:buNone/>
            </a:pPr>
            <a:r>
              <a:rPr lang="en-US" sz="1700" b="1" dirty="0">
                <a:solidFill>
                  <a:srgbClr val="14344F"/>
                </a:solidFill>
              </a:rPr>
              <a:t>dbt on Cloud Run</a:t>
            </a:r>
            <a:endParaRPr lang="en-US" sz="1700" dirty="0"/>
          </a:p>
        </p:txBody>
      </p:sp>
      <p:sp>
        <p:nvSpPr>
          <p:cNvPr id="19" name="Text 17"/>
          <p:cNvSpPr txBox="1"/>
          <p:nvPr/>
        </p:nvSpPr>
        <p:spPr>
          <a:xfrm>
            <a:off x="6675120" y="4617720"/>
            <a:ext cx="4663440" cy="822960"/>
          </a:xfrm>
          <a:prstGeom prst="rect">
            <a:avLst/>
          </a:prstGeom>
          <a:noFill/>
          <a:ln/>
        </p:spPr>
        <p:txBody>
          <a:bodyPr wrap="square" lIns="0" tIns="0" rIns="0" bIns="0" rtlCol="0" anchor="t"/>
          <a:lstStyle/>
          <a:p>
            <a:pPr indent="0" marL="0">
              <a:buNone/>
            </a:pPr>
            <a:r>
              <a:rPr lang="en-US" sz="1300" dirty="0">
                <a:solidFill>
                  <a:srgbClr val="5B6B79"/>
                </a:solidFill>
              </a:rPr>
              <a:t>Move dbt execution from Airflow BashOperator to the Cloud Run operator.</a:t>
            </a:r>
            <a:endParaRPr lang="en-US" sz="1300" dirty="0"/>
          </a:p>
        </p:txBody>
      </p:sp>
      <p:sp>
        <p:nvSpPr>
          <p:cNvPr id="25" name="Slide Number Placeholder 0"/>
          <p:cNvSpPr>
            <a:spLocks noGrp="1"/>
          </p:cNvSpPr>
          <p:nvPr>
            <p:ph type="sldNum" sz="quarter" idx="4294967295"/>
          </p:nvPr>
        </p:nvSpPr>
        <p:spPr>
          <a:xfrm>
            <a:off x="11430000" y="6455664"/>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9A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2560320"/>
            <a:ext cx="10698480" cy="914400"/>
          </a:xfrm>
          <a:prstGeom prst="rect">
            <a:avLst/>
          </a:prstGeom>
          <a:noFill/>
          <a:ln/>
        </p:spPr>
        <p:txBody>
          <a:bodyPr wrap="square" lIns="0" tIns="0" rIns="0" bIns="0" rtlCol="0" anchor="ctr"/>
          <a:lstStyle/>
          <a:p>
            <a:pPr indent="0" marL="0">
              <a:buNone/>
            </a:pPr>
            <a:r>
              <a:rPr lang="en-US" sz="4000" b="1" dirty="0">
                <a:solidFill>
                  <a:srgbClr val="FFFFFF"/>
                </a:solidFill>
              </a:rPr>
              <a:t>Questions &amp; discussion</a:t>
            </a:r>
            <a:endParaRPr lang="en-US" sz="4000" dirty="0"/>
          </a:p>
        </p:txBody>
      </p:sp>
      <p:sp>
        <p:nvSpPr>
          <p:cNvPr id="3" name="Text 1"/>
          <p:cNvSpPr txBox="1"/>
          <p:nvPr/>
        </p:nvSpPr>
        <p:spPr>
          <a:xfrm>
            <a:off x="749808" y="3566160"/>
            <a:ext cx="10515600" cy="457200"/>
          </a:xfrm>
          <a:prstGeom prst="rect">
            <a:avLst/>
          </a:prstGeom>
          <a:noFill/>
          <a:ln/>
        </p:spPr>
        <p:txBody>
          <a:bodyPr wrap="square" lIns="0" tIns="0" rIns="0" bIns="0" rtlCol="0" anchor="ctr"/>
          <a:lstStyle/>
          <a:p>
            <a:pPr indent="0" marL="0">
              <a:buNone/>
            </a:pPr>
            <a:r>
              <a:rPr lang="en-US" sz="1800" dirty="0">
                <a:solidFill>
                  <a:srgbClr val="A9D3F2"/>
                </a:solidFill>
              </a:rPr>
              <a:t>GCP Enterprise Data Platform  ·  MVP delivered end-to-end</a:t>
            </a:r>
            <a:endParaRPr lang="en-US" sz="1800" dirty="0"/>
          </a:p>
        </p:txBody>
      </p:sp>
      <p:sp>
        <p:nvSpPr>
          <p:cNvPr id="4" name="Shape 2"/>
          <p:cNvSpPr/>
          <p:nvPr/>
        </p:nvSpPr>
        <p:spPr>
          <a:xfrm>
            <a:off x="749808" y="4846320"/>
            <a:ext cx="548640" cy="548640"/>
          </a:xfrm>
          <a:prstGeom prst="roundRect">
            <a:avLst>
              <a:gd name="adj" fmla="val 13333"/>
            </a:avLst>
          </a:prstGeom>
          <a:solidFill>
            <a:srgbClr val="E4F1FB"/>
          </a:solidFill>
          <a:ln w="12700">
            <a:solidFill>
              <a:srgbClr val="E4F1FB"/>
            </a:solidFill>
            <a:prstDash val="solid"/>
          </a:ln>
        </p:spPr>
      </p:sp>
      <p:sp>
        <p:nvSpPr>
          <p:cNvPr id="5" name="Shape 3"/>
          <p:cNvSpPr/>
          <p:nvPr/>
        </p:nvSpPr>
        <p:spPr>
          <a:xfrm>
            <a:off x="1554480" y="4846320"/>
            <a:ext cx="548640" cy="548640"/>
          </a:xfrm>
          <a:prstGeom prst="roundRect">
            <a:avLst>
              <a:gd name="adj" fmla="val 13333"/>
            </a:avLst>
          </a:prstGeom>
          <a:solidFill>
            <a:srgbClr val="A9D3F2"/>
          </a:solidFill>
          <a:ln w="12700">
            <a:solidFill>
              <a:srgbClr val="A9D3F2"/>
            </a:solidFill>
            <a:prstDash val="solid"/>
          </a:ln>
        </p:spPr>
      </p:sp>
      <p:sp>
        <p:nvSpPr>
          <p:cNvPr id="6" name="Shape 4"/>
          <p:cNvSpPr/>
          <p:nvPr/>
        </p:nvSpPr>
        <p:spPr>
          <a:xfrm>
            <a:off x="2359152" y="4846320"/>
            <a:ext cx="548640" cy="548640"/>
          </a:xfrm>
          <a:prstGeom prst="roundRect">
            <a:avLst>
              <a:gd name="adj" fmla="val 13333"/>
            </a:avLst>
          </a:prstGeom>
          <a:solidFill>
            <a:srgbClr val="7FB8E6"/>
          </a:solidFill>
          <a:ln w="12700">
            <a:solidFill>
              <a:srgbClr val="7FB8E6"/>
            </a:solidFill>
            <a:prstDash val="solid"/>
          </a:ln>
        </p:spPr>
      </p:sp>
      <p:sp>
        <p:nvSpPr>
          <p:cNvPr id="7" name="Shape 5"/>
          <p:cNvSpPr/>
          <p:nvPr/>
        </p:nvSpPr>
        <p:spPr>
          <a:xfrm>
            <a:off x="3163824" y="4846320"/>
            <a:ext cx="548640" cy="548640"/>
          </a:xfrm>
          <a:prstGeom prst="roundRect">
            <a:avLst>
              <a:gd name="adj" fmla="val 13333"/>
            </a:avLst>
          </a:prstGeom>
          <a:solidFill>
            <a:srgbClr val="3291D6"/>
          </a:solidFill>
          <a:ln w="12700">
            <a:solidFill>
              <a:srgbClr val="3291D6"/>
            </a:solidFill>
            <a:prstDash val="solid"/>
          </a:ln>
        </p:spPr>
      </p:sp>
      <p:sp>
        <p:nvSpPr>
          <p:cNvPr id="8" name="Shape 6"/>
          <p:cNvSpPr/>
          <p:nvPr/>
        </p:nvSpPr>
        <p:spPr>
          <a:xfrm>
            <a:off x="3968496" y="4846320"/>
            <a:ext cx="548640" cy="548640"/>
          </a:xfrm>
          <a:prstGeom prst="roundRect">
            <a:avLst>
              <a:gd name="adj" fmla="val 13333"/>
            </a:avLst>
          </a:prstGeom>
          <a:solidFill>
            <a:srgbClr val="1C6EA8"/>
          </a:solidFill>
          <a:ln w="12700">
            <a:solidFill>
              <a:srgbClr val="1C6EA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2026-10-07T07:00:15Z</dcterms:created>
  <dcterms:modified xsi:type="dcterms:W3CDTF">2026-10-07T07:00:15Z</dcterms:modified>
</cp:coreProperties>
</file>