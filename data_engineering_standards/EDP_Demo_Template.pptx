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'before' once: design-stage, manual steps, Google-default encryption. Everything today is the 'after' — a deliberately thin spine proving the whole flow end to end. Four source views ingested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stakes in business terms. Each of these six is now live. The scope bar pre-empts 'looks incomplete' — the omissions are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Teal is what we built; grey is the world either side. Note ingestion pulls Oracle credentials from Secret Manager (inside the perimeter), dbt runs via Airflow BashOperator, and the CI/CD lane provisions and deploys the whole platform. The dashed frame is the VPC Service Controls perimeter.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a fresh run live to show it works, then cut to a pre-baked completed run for the downstream steps. The fail-safe moment is the highest-value 90 seconds for a governance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build increments toward production and legacy retirement. dbt execution moves from BashOperator to the Cloud Run operator; schema-drift / silent-drop detection added for incremental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business and scope questions first, then open the floor to technical questions. Keep the security/governance and architecture-decision slides on hand for the architecture-team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GCP Enterprise Data Platform  ·  MVP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GCP Enterprise Data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441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1CB"/>
                </a:solidFill>
              </a:rPr>
              <a:t>MVP demo — end-to-end pipeline, live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044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DE2"/>
                </a:solidFill>
              </a:rPr>
              <a:t>60-minute session · a single change followed from commit to curated data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100%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Infrastructure as 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Console access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3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Governed zones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79408" y="4069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4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4846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Source views, parallel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</a:rPr>
              <a:t>What's new in the GCP environment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E6A"/>
                </a:solidFill>
              </a:rPr>
              <a:t>Capabilities delivered in this MVP — from design-stage to a working end-to-end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85041"/>
                </a:solidFill>
              </a:rPr>
              <a:t>In scope:  </a:t>
            </a:r>
            <a:pPr algn="l" indent="0" marL="0">
              <a:buNone/>
            </a:pPr>
            <a:r>
              <a:rPr lang="en-US" sz="1250" dirty="0">
                <a:solidFill>
                  <a:srgbClr val="0F6E56"/>
                </a:solidFill>
              </a:rPr>
              <a:t>the pipeline spine, proven end to end.    </a:t>
            </a:r>
            <a:pPr algn="l" indent="0" marL="0">
              <a:buNone/>
            </a:pPr>
            <a:r>
              <a:rPr lang="en-US" sz="1250" b="1" dirty="0">
                <a:solidFill>
                  <a:srgbClr val="085041"/>
                </a:solidFill>
              </a:rPr>
              <a:t>Not in this MVP:  </a:t>
            </a:r>
            <a:pPr algn="l" indent="0" marL="0">
              <a:buNone/>
            </a:pPr>
            <a:r>
              <a:rPr lang="en-US" sz="1250" dirty="0">
                <a:solidFill>
                  <a:srgbClr val="0F6E56"/>
                </a:solidFill>
              </a:rPr>
              <a:t>full source coverage · production hardening · legacy decommission.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4086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79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Standardised Terraform foundation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One reusable infrastructure-as-code baseline for every service.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054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4860" y="234086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486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4860" y="2779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EKM encryption everywhere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9486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Externally-held keys (Cloud EKM) across BigQuery, GCS and Composer.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34086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779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Automated CI/CD delivery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Pull request to production via GitHub Actions, JFrog and Terraform — no console.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44398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88289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Parallel ingestion with fail-safe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94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Concurrent source-to-raw loads; a single failure halts the run.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054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4860" y="444398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486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94860" y="488289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Governed three-zone model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94860" y="5394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raw → staging → curated, with full dbt lineage.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8388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58200" y="4443984"/>
            <a:ext cx="402336" cy="40233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5820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458200" y="488289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2E"/>
                </a:solidFill>
              </a:rPr>
              <a:t>Operations &amp; observability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5394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E6A"/>
                </a:solidFill>
              </a:rPr>
              <a:t>Centralised orchestration, logging, monitoring and alerting.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</a:rPr>
              <a:t>End-to-end platform — commit to curated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31136" y="1325880"/>
            <a:ext cx="7516368" cy="2057400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15875">
            <a:solidFill>
              <a:srgbClr val="1D9E7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3774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</a:rPr>
              <a:t>VPC Service Controls perimeter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5041"/>
                </a:solidFill>
              </a:rPr>
              <a:t>Orchestration: Cloud Composer · Airflow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F1EFE8"/>
          </a:solidFill>
          <a:ln w="15875">
            <a:solidFill>
              <a:srgbClr val="8887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1"/>
                </a:solidFill>
              </a:rPr>
              <a:t>Sources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upstream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14016" y="196596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14016" y="19659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Ingestion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parallel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53712" y="1965960"/>
            <a:ext cx="1188720" cy="749808"/>
          </a:xfrm>
          <a:prstGeom prst="roundRect">
            <a:avLst>
              <a:gd name="adj" fmla="val 8537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965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Raw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7648" y="1965960"/>
            <a:ext cx="1280160" cy="749808"/>
          </a:xfrm>
          <a:prstGeom prst="roundRect">
            <a:avLst>
              <a:gd name="adj" fmla="val 8537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96596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Staging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96596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19659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Curated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serving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9840" y="1965960"/>
            <a:ext cx="1554480" cy="749808"/>
          </a:xfrm>
          <a:prstGeom prst="roundRect">
            <a:avLst>
              <a:gd name="adj" fmla="val 8537"/>
            </a:avLst>
          </a:prstGeom>
          <a:solidFill>
            <a:srgbClr val="F1EFE8"/>
          </a:solidFill>
          <a:ln w="15875">
            <a:solidFill>
              <a:srgbClr val="8887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0" y="19659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1"/>
                </a:solidFill>
              </a:rPr>
              <a:t>Consumers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BI &amp; apps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340864"/>
            <a:ext cx="585216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68496" y="2340864"/>
            <a:ext cx="585216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42432" y="2340864"/>
            <a:ext cx="585216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07808" y="2340864"/>
            <a:ext cx="585216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64624" y="2340864"/>
            <a:ext cx="585216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14016" y="2871216"/>
            <a:ext cx="1554480" cy="420624"/>
          </a:xfrm>
          <a:prstGeom prst="roundRect">
            <a:avLst>
              <a:gd name="adj" fmla="val 15217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14016" y="28712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5041"/>
                </a:solidFill>
              </a:rPr>
              <a:t>Secret 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Oracle credentials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91256" y="2715768"/>
            <a:ext cx="0" cy="155448"/>
          </a:xfrm>
          <a:prstGeom prst="line">
            <a:avLst/>
          </a:prstGeom>
          <a:noFill/>
          <a:ln w="15875">
            <a:solidFill>
              <a:srgbClr val="1D9E75"/>
            </a:solidFill>
            <a:prstDash val="solid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4553712" y="2871216"/>
            <a:ext cx="5010912" cy="402336"/>
          </a:xfrm>
          <a:prstGeom prst="roundRect">
            <a:avLst>
              <a:gd name="adj" fmla="val 15909"/>
            </a:avLst>
          </a:prstGeom>
          <a:solidFill>
            <a:srgbClr val="EAF4F0"/>
          </a:solidFill>
          <a:ln w="12700">
            <a:solidFill>
              <a:srgbClr val="1D9E75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553712" y="287121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5041"/>
                </a:solidFill>
              </a:rPr>
              <a:t>dbt transform · Airflow BashOperator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383280"/>
            <a:ext cx="0" cy="822960"/>
          </a:xfrm>
          <a:prstGeom prst="line">
            <a:avLst/>
          </a:prstGeom>
          <a:noFill/>
          <a:ln w="15875">
            <a:solidFill>
              <a:srgbClr val="888780"/>
            </a:solidFill>
            <a:prstDash val="dash"/>
            <a:head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4465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1"/>
                </a:solidFill>
              </a:rPr>
              <a:t>provisions &amp; deploys all platform infra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420624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4206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PR · merge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20440" y="4206240"/>
            <a:ext cx="2560320" cy="777240"/>
          </a:xfrm>
          <a:prstGeom prst="roundRect">
            <a:avLst>
              <a:gd name="adj" fmla="val 8235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4206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GitHub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self-hosted runners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420624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4206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JFrog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private PyPI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89720" y="420624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89720" y="4206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Terraform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provision &amp; deploy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017520" y="4594860"/>
            <a:ext cx="5029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80760" y="4594860"/>
            <a:ext cx="5029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686800" y="4594860"/>
            <a:ext cx="5029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52578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5041"/>
                </a:solidFill>
              </a:rPr>
              <a:t>Observability     </a:t>
            </a:r>
            <a:pPr algn="l" indent="0" marL="0">
              <a:buNone/>
            </a:pPr>
            <a:r>
              <a:rPr lang="en-US" sz="1200" dirty="0">
                <a:solidFill>
                  <a:srgbClr val="0F6E56"/>
                </a:solidFill>
              </a:rPr>
              <a:t>Structured logs (correlation_id)  ·  monitoring  ·  actionable alerting  ·  dbt lineage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57200" y="5961888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5907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2E"/>
                </a:solidFill>
              </a:rPr>
              <a:t>New / improved in this MVP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06240" y="5961888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98848" y="5907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2E"/>
                </a:solidFill>
              </a:rPr>
              <a:t>Existing / external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</a:rPr>
              <a:t>What you'll see — live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E6A"/>
                </a:solidFill>
              </a:rPr>
              <a:t>One change, followed from commit to curated data.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Commit &amp; merge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A small change goes up as a pull request and merges to main.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025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Build &amp; deploy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GitHub Actions pulls from JFrog; Terraform provisions and deploys — no console access.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33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Orchestrate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Composer picks up the change and triggers the DAG.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64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Ingest in parallel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Source extracts load concurrently into raw; Oracle credentials pulled from Secret Manager.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953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Transform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dbt runs raw → staging → curated via BashOperator; lineage is captured.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26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2E"/>
                </a:solidFill>
              </a:rPr>
              <a:t>Observe   </a:t>
            </a:r>
            <a:pPr algn="l" indent="0" marL="0">
              <a:buNone/>
            </a:pPr>
            <a:r>
              <a:rPr lang="en-US" sz="1300" dirty="0">
                <a:solidFill>
                  <a:srgbClr val="5F6E6A"/>
                </a:solidFill>
              </a:rPr>
              <a:t>Structured logs (correlation_id), monitoring, alerting and lineage confirm the run.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52669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266944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Watch for:  </a:t>
            </a:r>
            <a:pPr algn="l" indent="0" marL="0">
              <a:buNone/>
            </a:pPr>
            <a:r>
              <a:rPr lang="en-US" sz="1350" dirty="0">
                <a:solidFill>
                  <a:srgbClr val="085041"/>
                </a:solidFill>
              </a:rPr>
              <a:t>a deliberate source failure — the alert fires and dbt does not run, so no partial data reaches consumers.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55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39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Source interfaces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Build ingestion interfaces for the remaining source systems.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655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39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Standardised control-plane DAGs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A common, reusable DAG pattern across all pipelines.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655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39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dbt data-quality tracking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Standardised data-quality tests, tracking and alerting in dbt.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1417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655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039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SQL Server → BigQuery migration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Migrate the SQL Server estate into BigQuery.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97380" y="3703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25980" y="3941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5980" y="4325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UAT landing-zone provisioning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25980" y="5056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Initiate provisioning of the UAT landing zone.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77740" y="3703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6340" y="3941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06340" y="4325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Schema-drift / silent-drop detection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06340" y="5056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Detect dropped or changed source columns before they silently break loads.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58100" y="37033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AF4F0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6700" y="3941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86700" y="43251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2E"/>
                </a:solidFill>
              </a:rPr>
              <a:t>dbt on Cloud Run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86700" y="5056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E6A"/>
                </a:solidFill>
              </a:rPr>
              <a:t>Move dbt execution from Airflow BashOperator to the Cloud Run operator.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</a:rPr>
              <a:t>GCP Enterprise Data Platform  ·  MVP delivered end-to-end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4846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4846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9152" y="4846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4846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8496" y="4846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2026-10-02T08:59:30Z</dcterms:created>
  <dcterms:modified xsi:type="dcterms:W3CDTF">2026-10-02T08:59:30Z</dcterms:modified>
</cp:coreProperties>
</file>